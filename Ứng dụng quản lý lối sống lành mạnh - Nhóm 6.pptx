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Nunito" pitchFamily="34" charset="0"/>
      <p:regular r:id="rId19"/>
      <p:bold r:id="rId20"/>
    </p:embeddedFont>
    <p:embeddedFont>
      <p:font typeface="Fredoka" pitchFamily="34" charset="0"/>
      <p:regular r:id="rId21"/>
      <p:bold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nhóm 6 và tên đề tài: ứng dụng quản lý lối sống lành mạnh cho giới trẻ, học sinh, sinh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Ứng dụng nhắm tới giới trẻ, học sinh, sinh viên. Ba trụ cột: sức khỏe, quản lý cá nhân và AI thông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nhóm chức năng thuộc trụ cột sức khỏe: nghỉ ngơi và sinh hoạt, ăn uống và thực phẩm.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Trụ cột quản lý cá nhân gồm quản lý chi tiêu và quản lý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bước của mô phỏng sức khỏe tương lai. Nhấn mạnh: kết quả dựa trên dữ liệu thực tế sau 7 ngày thử, không phải dự đoán y khoa.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yêu cầu phi chức năng: giao diện, sự tối giản, bảo mật, hiệu năng và khả năng tương thích điện thoại, máy tính. Ba màu chủ đạo: xanh lá, trắng, xanh dương nhạt.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chức năng đột phá: AI kết hợp dữ liệu giấc ngủ, ăn uống, chi tiêu và lịch sinh hoạt để đưa ra gợi ý riêng cho từng người. Bốn ví dụ minh họa trên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Ngoài gợi ý riêng, AI còn tổng kết cuối tuần, tạo thử thách tích điểm đổi voucher và mô phỏng 7 ngày. Nhắc lại: ứng dụng chỉ hỗ trợ lối sống, không thay thế chẩn đoán y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sở dữ liệu gồm 3 bảng: thông tin người dùng, nhật ký sinh hoạt và theo dõi tiến bộ. Bảng 2 là nội dung đề xuất, nhóm cần xác nhận lại với tài liệu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so sánh năm chỉ số trước và sau khi dùng ứng dụng. Cột thay đổi được tính từ hai cột còn lại. Lưu ý đây là số liệu minh họa.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lưu ý khi kết luận: số liệu chỉ là minh họa, cần khảo sát thật 2 đến 4 tuần và không khẳng định hiệu quả chỉ từ số liệu minh họa.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và mời đặt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BE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00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0F2A22"/>
                </a:solidFill>
                <a:latin typeface="Fredoka" pitchFamily="34" charset="0"/>
                <a:ea typeface="Fredoka" pitchFamily="34" charset="-122"/>
                <a:cs typeface="Fredok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77720"/>
            <a:ext cx="10566400" cy="3967480"/>
          </a:xfrm>
          <a:prstGeom prst="rect">
            <a:avLst/>
          </a:prstGeom>
          <a:noFill/>
          <a:ln/>
        </p:spPr>
        <p:txBody>
          <a:bodyPr wrap="square" lIns="0" tIns="0" rIns="0" bIns="0" rtlCol="0" anchor="t"/>
          <a:lstStyle>
            <a:lvl1pPr algn="l" indent="0" marL="0">
              <a:lnSpc>
                <a:spcPct val="140000"/>
              </a:lnSpc>
              <a:buNone/>
              <a:defRPr lang="en-US" sz="1600" dirty="0">
                <a:solidFill>
                  <a:srgbClr val="0F2A22"/>
                </a:solidFill>
                <a:latin typeface="Nunito" pitchFamily="34" charset="0"/>
                <a:ea typeface="Nunito" pitchFamily="34" charset="-122"/>
                <a:cs typeface="Nuni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BE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7000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0F2A22"/>
                </a:solidFill>
                <a:latin typeface="Fredoka" pitchFamily="34" charset="0"/>
                <a:ea typeface="Fredoka" pitchFamily="34" charset="-122"/>
                <a:cs typeface="Fredok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77720"/>
            <a:ext cx="10566400" cy="3967480"/>
          </a:xfrm>
          <a:prstGeom prst="rect">
            <a:avLst/>
          </a:prstGeom>
          <a:noFill/>
          <a:ln/>
        </p:spPr>
        <p:txBody>
          <a:bodyPr wrap="square" lIns="0" tIns="0" rIns="0" bIns="0" rtlCol="0" anchor="t"/>
          <a:lstStyle>
            <a:lvl1pPr algn="l" indent="0" marL="0">
              <a:lnSpc>
                <a:spcPct val="140000"/>
              </a:lnSpc>
              <a:buNone/>
              <a:defRPr lang="en-US" sz="1600" dirty="0">
                <a:solidFill>
                  <a:srgbClr val="0F2A22"/>
                </a:solidFill>
                <a:latin typeface="Nunito" pitchFamily="34" charset="0"/>
                <a:ea typeface="Nunito" pitchFamily="34" charset="-122"/>
                <a:cs typeface="Nunit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22"/>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001000" y="1079500"/>
            <a:ext cx="2794000" cy="2794000"/>
          </a:xfrm>
          <a:prstGeom prst="rect">
            <a:avLst/>
          </a:prstGeom>
        </p:spPr>
      </p:pic>
      <p:pic>
        <p:nvPicPr>
          <p:cNvPr id="3" name="Image 1" descr="ellipse">    </p:cNvPr>
          <p:cNvPicPr>
            <a:picLocks noChangeAspect="1"/>
          </p:cNvPicPr>
          <p:nvPr/>
        </p:nvPicPr>
        <p:blipFill>
          <a:blip r:embed="rId2"/>
          <a:srcRect l="0" r="0" t="0" b="0"/>
          <a:stretch/>
        </p:blipFill>
        <p:spPr>
          <a:xfrm>
            <a:off x="9525000" y="3619500"/>
            <a:ext cx="1778000" cy="1778000"/>
          </a:xfrm>
          <a:prstGeom prst="rect">
            <a:avLst/>
          </a:prstGeom>
        </p:spPr>
      </p:pic>
      <p:pic>
        <p:nvPicPr>
          <p:cNvPr id="4" name="Image 2" descr="ellipse">    </p:cNvPr>
          <p:cNvPicPr>
            <a:picLocks noChangeAspect="1"/>
          </p:cNvPicPr>
          <p:nvPr/>
        </p:nvPicPr>
        <p:blipFill>
          <a:blip r:embed="rId3"/>
          <a:srcRect l="0" r="0" t="0" b="0"/>
          <a:stretch/>
        </p:blipFill>
        <p:spPr>
          <a:xfrm>
            <a:off x="7556500" y="4127500"/>
            <a:ext cx="1270000" cy="1270000"/>
          </a:xfrm>
          <a:prstGeom prst="rect">
            <a:avLst/>
          </a:prstGeom>
        </p:spPr>
      </p:pic>
      <p:pic>
        <p:nvPicPr>
          <p:cNvPr id="5" name="Image 3" descr="Activity">    </p:cNvPr>
          <p:cNvPicPr>
            <a:picLocks noChangeAspect="1"/>
          </p:cNvPicPr>
          <p:nvPr/>
        </p:nvPicPr>
        <p:blipFill>
          <a:blip r:embed="rId4"/>
          <a:srcRect l="0" r="0" t="0" b="0"/>
          <a:stretch/>
        </p:blipFill>
        <p:spPr>
          <a:xfrm>
            <a:off x="8763000" y="1841500"/>
            <a:ext cx="1270000" cy="1270000"/>
          </a:xfrm>
          <a:prstGeom prst="rect">
            <a:avLst/>
          </a:prstGeom>
        </p:spPr>
      </p:pic>
      <p:pic>
        <p:nvPicPr>
          <p:cNvPr id="6" name="Image 4" descr="Lightbulb">    </p:cNvPr>
          <p:cNvPicPr>
            <a:picLocks noChangeAspect="1"/>
          </p:cNvPicPr>
          <p:nvPr/>
        </p:nvPicPr>
        <p:blipFill>
          <a:blip r:embed="rId5"/>
          <a:srcRect l="0" r="0" t="0" b="0"/>
          <a:stretch/>
        </p:blipFill>
        <p:spPr>
          <a:xfrm>
            <a:off x="10033000" y="4127500"/>
            <a:ext cx="762000" cy="762000"/>
          </a:xfrm>
          <a:prstGeom prst="rect">
            <a:avLst/>
          </a:prstGeom>
        </p:spPr>
      </p:pic>
      <p:pic>
        <p:nvPicPr>
          <p:cNvPr id="7" name="Image 5" descr="Clock">    </p:cNvPr>
          <p:cNvPicPr>
            <a:picLocks noChangeAspect="1"/>
          </p:cNvPicPr>
          <p:nvPr/>
        </p:nvPicPr>
        <p:blipFill>
          <a:blip r:embed="rId6"/>
          <a:srcRect l="0" r="0" t="0" b="0"/>
          <a:stretch/>
        </p:blipFill>
        <p:spPr>
          <a:xfrm>
            <a:off x="7874000" y="4445000"/>
            <a:ext cx="635000" cy="635000"/>
          </a:xfrm>
          <a:prstGeom prst="rect">
            <a:avLst/>
          </a:prstGeom>
        </p:spPr>
      </p:pic>
      <p:sp>
        <p:nvSpPr>
          <p:cNvPr id="8" name="Text 0"/>
          <p:cNvSpPr/>
          <p:nvPr/>
        </p:nvSpPr>
        <p:spPr>
          <a:xfrm rot="21420000">
            <a:off x="811848" y="1853565"/>
            <a:ext cx="1352550" cy="387350"/>
          </a:xfrm>
          <a:custGeom>
            <a:avLst/>
            <a:gdLst/>
            <a:ahLst/>
            <a:cxnLst/>
            <a:rect l="l" t="t" r="r" b="b"/>
            <a:pathLst>
              <a:path w="1352550" h="387350">
                <a:moveTo>
                  <a:pt x="193675" y="0"/>
                </a:moveTo>
                <a:lnTo>
                  <a:pt x="1158875" y="0"/>
                </a:lnTo>
                <a:arcTo hR="193675" wR="193675" stAng="16200000" swAng="5400000"/>
                <a:lnTo>
                  <a:pt x="1352550" y="193675"/>
                </a:lnTo>
                <a:arcTo hR="193675" wR="193675" stAng="0" swAng="5400000"/>
                <a:lnTo>
                  <a:pt x="193675" y="387350"/>
                </a:lnTo>
                <a:arcTo hR="193675" wR="193675" stAng="5400000" swAng="5400000"/>
                <a:lnTo>
                  <a:pt x="0" y="193675"/>
                </a:lnTo>
                <a:arcTo hR="193675" wR="193675" stAng="10800000" swAng="5400000"/>
                <a:close/>
              </a:path>
            </a:pathLst>
          </a:custGeom>
          <a:solidFill>
            <a:srgbClr val="C8F560"/>
          </a:solidFill>
          <a:ln/>
        </p:spPr>
        <p:txBody>
          <a:bodyPr wrap="none" lIns="0" tIns="0" rIns="0" bIns="0" rtlCol="0" anchor="ctr">
            <a:normAutofit/>
          </a:bodyPr>
          <a:lstStyle/>
          <a:p>
            <a:pPr algn="ctr" indent="0" marL="0">
              <a:lnSpc>
                <a:spcPts val="2240"/>
              </a:lnSpc>
              <a:buNone/>
            </a:pPr>
            <a:r>
              <a:rPr lang="en-US" sz="1600" b="1" spc="150" kern="0" dirty="0">
                <a:solidFill>
                  <a:srgbClr val="0F2A22"/>
                </a:solidFill>
                <a:latin typeface="Nunito" pitchFamily="34" charset="0"/>
                <a:ea typeface="Nunito" pitchFamily="34" charset="-122"/>
                <a:cs typeface="Nunito" pitchFamily="34" charset="-120"/>
              </a:rPr>
              <a:t>NHÓM 6</a:t>
            </a:r>
            <a:endParaRPr lang="en-US" sz="1600" dirty="0"/>
          </a:p>
        </p:txBody>
      </p:sp>
      <p:sp>
        <p:nvSpPr>
          <p:cNvPr id="9" name="Text 1"/>
          <p:cNvSpPr/>
          <p:nvPr>
            <p:ph type="title"/>
          </p:nvPr>
        </p:nvSpPr>
        <p:spPr>
          <a:xfrm>
            <a:off x="812800" y="2443480"/>
            <a:ext cx="6278880" cy="12547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3FBE8"/>
                </a:solidFill>
                <a:latin typeface="Fredoka" pitchFamily="34" charset="0"/>
                <a:ea typeface="Fredoka" pitchFamily="34" charset="-122"/>
                <a:cs typeface="Fredoka" pitchFamily="34" charset="-120"/>
              </a:rPr>
              <a:t>Ứng dụng quản lý lối sống </a:t>
            </a:r>
            <a:r>
              <a:rPr lang="en-US" sz="4400" b="1" i="0" dirty="0">
                <a:solidFill>
                  <a:srgbClr val="C8F560"/>
                </a:solidFill>
                <a:latin typeface="Fredoka" pitchFamily="34" charset="0"/>
                <a:ea typeface="Fredoka" pitchFamily="34" charset="-122"/>
                <a:cs typeface="Fredoka" pitchFamily="34" charset="-120"/>
              </a:rPr>
              <a:t>lành mạnh</a:t>
            </a:r>
            <a:endParaRPr lang="en-US" sz="4400" dirty="0"/>
          </a:p>
        </p:txBody>
      </p:sp>
      <p:sp>
        <p:nvSpPr>
          <p:cNvPr id="10" name="Text 2"/>
          <p:cNvSpPr/>
          <p:nvPr/>
        </p:nvSpPr>
        <p:spPr>
          <a:xfrm>
            <a:off x="812800" y="3876040"/>
            <a:ext cx="5886450"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8ED1FF"/>
                </a:solidFill>
                <a:latin typeface="Nunito" pitchFamily="34" charset="0"/>
                <a:ea typeface="Nunito" pitchFamily="34" charset="-122"/>
                <a:cs typeface="Nunito" pitchFamily="34" charset="-120"/>
              </a:rPr>
              <a:t>Ngủ đủ, ăn ngon, tiêu khôn. Có AI lo phần còn lại.</a:t>
            </a:r>
            <a:endParaRPr lang="en-US" sz="2000" dirty="0"/>
          </a:p>
        </p:txBody>
      </p:sp>
      <p:sp>
        <p:nvSpPr>
          <p:cNvPr id="11" name="Text 3"/>
          <p:cNvSpPr/>
          <p:nvPr/>
        </p:nvSpPr>
        <p:spPr>
          <a:xfrm>
            <a:off x="812800" y="4739640"/>
            <a:ext cx="5886450"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FE0D0"/>
                </a:solidFill>
                <a:latin typeface="Nunito" pitchFamily="34" charset="0"/>
                <a:ea typeface="Nunito" pitchFamily="34" charset="-122"/>
                <a:cs typeface="Nunito" pitchFamily="34" charset="-120"/>
              </a:rPr>
              <a:t>Dành cho Gen Z, học sinh, sinh viên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BE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0363200" y="812800"/>
            <a:ext cx="1016000" cy="1016000"/>
          </a:xfrm>
          <a:prstGeom prst="rect">
            <a:avLst/>
          </a:prstGeom>
        </p:spPr>
      </p:pic>
      <p:pic>
        <p:nvPicPr>
          <p:cNvPr id="3" name="Image 1" descr="Lightbulb">    </p:cNvPr>
          <p:cNvPicPr>
            <a:picLocks noChangeAspect="1"/>
          </p:cNvPicPr>
          <p:nvPr/>
        </p:nvPicPr>
        <p:blipFill>
          <a:blip r:embed="rId2"/>
          <a:srcRect l="0" r="0" t="0" b="0"/>
          <a:stretch/>
        </p:blipFill>
        <p:spPr>
          <a:xfrm>
            <a:off x="10591800" y="1041400"/>
            <a:ext cx="558800" cy="558800"/>
          </a:xfrm>
          <a:prstGeom prst="rect">
            <a:avLst/>
          </a:prstGeom>
        </p:spPr>
      </p:pic>
      <p:sp>
        <p:nvSpPr>
          <p:cNvPr id="4" name="Text 0"/>
          <p:cNvSpPr/>
          <p:nvPr/>
        </p:nvSpPr>
        <p:spPr>
          <a:xfrm rot="21480000">
            <a:off x="823873" y="822325"/>
            <a:ext cx="971550" cy="336550"/>
          </a:xfrm>
          <a:custGeom>
            <a:avLst/>
            <a:gdLst/>
            <a:ahLst/>
            <a:cxnLst/>
            <a:rect l="l" t="t" r="r" b="b"/>
            <a:pathLst>
              <a:path w="971550" h="336550">
                <a:moveTo>
                  <a:pt x="168275" y="0"/>
                </a:moveTo>
                <a:lnTo>
                  <a:pt x="803275" y="0"/>
                </a:lnTo>
                <a:arcTo hR="168275" wR="168275" stAng="16200000" swAng="5400000"/>
                <a:lnTo>
                  <a:pt x="971550" y="168275"/>
                </a:lnTo>
                <a:arcTo hR="168275" wR="168275" stAng="0" swAng="5400000"/>
                <a:lnTo>
                  <a:pt x="168275" y="336550"/>
                </a:lnTo>
                <a:arcTo hR="168275" wR="168275" stAng="5400000" swAng="5400000"/>
                <a:lnTo>
                  <a:pt x="0" y="168275"/>
                </a:lnTo>
                <a:arcTo hR="168275" wR="168275" stAng="10800000" swAng="5400000"/>
                <a:close/>
              </a:path>
            </a:pathLst>
          </a:custGeom>
          <a:solidFill>
            <a:srgbClr val="C8F560"/>
          </a:solidFill>
          <a:ln w="19050">
            <a:solidFill>
              <a:srgbClr val="0F2A22"/>
            </a:solidFill>
            <a:prstDash val="solid"/>
          </a:ln>
        </p:spPr>
        <p:txBody>
          <a:bodyPr wrap="none" lIns="0" tIns="0" rIns="0" bIns="0" rtlCol="0" anchor="ctr">
            <a:normAutofit/>
          </a:bodyPr>
          <a:lstStyle/>
          <a:p>
            <a:pPr algn="ctr" indent="0" marL="0">
              <a:lnSpc>
                <a:spcPts val="1960"/>
              </a:lnSpc>
              <a:buNone/>
            </a:pPr>
            <a:r>
              <a:rPr lang="en-US" sz="1400" b="1" dirty="0">
                <a:solidFill>
                  <a:srgbClr val="0F2A22"/>
                </a:solidFill>
                <a:latin typeface="Nunito" pitchFamily="34" charset="0"/>
                <a:ea typeface="Nunito" pitchFamily="34" charset="-122"/>
                <a:cs typeface="Nunito" pitchFamily="34" charset="-120"/>
              </a:rPr>
              <a:t>Ý tưởng</a:t>
            </a:r>
            <a:endParaRPr lang="en-US" sz="1400" dirty="0"/>
          </a:p>
        </p:txBody>
      </p:sp>
      <p:sp>
        <p:nvSpPr>
          <p:cNvPr id="5" name="Text 1"/>
          <p:cNvSpPr/>
          <p:nvPr>
            <p:ph type="title"/>
          </p:nvPr>
        </p:nvSpPr>
        <p:spPr>
          <a:xfrm>
            <a:off x="812800" y="1270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A22"/>
                </a:solidFill>
                <a:latin typeface="Fredoka" pitchFamily="34" charset="0"/>
                <a:ea typeface="Fredoka" pitchFamily="34" charset="-122"/>
                <a:cs typeface="Fredoka" pitchFamily="34" charset="-120"/>
              </a:rPr>
              <a:t>Ba trụ cột, một app</a:t>
            </a:r>
            <a:endParaRPr lang="en-US" sz="3600" dirty="0"/>
          </a:p>
        </p:txBody>
      </p:sp>
      <p:sp>
        <p:nvSpPr>
          <p:cNvPr id="6" name="Text 2"/>
          <p:cNvSpPr/>
          <p:nvPr/>
        </p:nvSpPr>
        <p:spPr>
          <a:xfrm>
            <a:off x="812800" y="2026920"/>
            <a:ext cx="9156700"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2F4A41"/>
                </a:solidFill>
                <a:latin typeface="Nunito" pitchFamily="34" charset="0"/>
                <a:ea typeface="Nunito" pitchFamily="34" charset="-122"/>
                <a:cs typeface="Nunito" pitchFamily="34" charset="-120"/>
              </a:rPr>
              <a:t>App quản lý lối sống lành mạnh dành cho giới trẻ, học sinh và sinh viên.</a:t>
            </a:r>
            <a:endParaRPr lang="en-US" sz="1700" dirty="0"/>
          </a:p>
        </p:txBody>
      </p:sp>
      <p:sp>
        <p:nvSpPr>
          <p:cNvPr id="7" name="Shape 3"/>
          <p:cNvSpPr/>
          <p:nvPr/>
        </p:nvSpPr>
        <p:spPr>
          <a:xfrm>
            <a:off x="822325" y="2592705"/>
            <a:ext cx="3333750" cy="2185670"/>
          </a:xfrm>
          <a:prstGeom prst="roundRect">
            <a:avLst>
              <a:gd name="adj" fmla="val 6537"/>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8" name="Shape 4"/>
          <p:cNvSpPr/>
          <p:nvPr/>
        </p:nvSpPr>
        <p:spPr>
          <a:xfrm>
            <a:off x="1091565" y="2861945"/>
            <a:ext cx="590550" cy="590550"/>
          </a:xfrm>
          <a:prstGeom prst="roundRect">
            <a:avLst>
              <a:gd name="adj" fmla="val 50000"/>
            </a:avLst>
          </a:prstGeom>
          <a:solidFill>
            <a:srgbClr val="3DDC84"/>
          </a:solidFill>
          <a:ln w="19050">
            <a:solidFill>
              <a:srgbClr val="0F2A22"/>
            </a:solidFill>
            <a:prstDash val="solid"/>
          </a:ln>
        </p:spPr>
      </p:sp>
      <p:pic>
        <p:nvPicPr>
          <p:cNvPr id="9" name="Image 2" descr="Activity">    </p:cNvPr>
          <p:cNvPicPr>
            <a:picLocks noChangeAspect="1"/>
          </p:cNvPicPr>
          <p:nvPr/>
        </p:nvPicPr>
        <p:blipFill>
          <a:blip r:embed="rId3"/>
          <a:srcRect l="0" r="0" t="0" b="0"/>
          <a:stretch/>
        </p:blipFill>
        <p:spPr>
          <a:xfrm>
            <a:off x="1209040" y="2979420"/>
            <a:ext cx="355600" cy="355600"/>
          </a:xfrm>
          <a:prstGeom prst="rect">
            <a:avLst/>
          </a:prstGeom>
        </p:spPr>
      </p:pic>
      <p:sp>
        <p:nvSpPr>
          <p:cNvPr id="10" name="Text 5"/>
          <p:cNvSpPr/>
          <p:nvPr/>
        </p:nvSpPr>
        <p:spPr>
          <a:xfrm>
            <a:off x="1082040" y="3589020"/>
            <a:ext cx="28987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22"/>
                </a:solidFill>
                <a:latin typeface="Fredoka" pitchFamily="34" charset="0"/>
                <a:ea typeface="Fredoka" pitchFamily="34" charset="-122"/>
                <a:cs typeface="Fredoka" pitchFamily="34" charset="-120"/>
              </a:rPr>
              <a:t>Sức khỏe</a:t>
            </a:r>
            <a:endParaRPr lang="en-US" sz="2000" dirty="0"/>
          </a:p>
        </p:txBody>
      </p:sp>
      <p:sp>
        <p:nvSpPr>
          <p:cNvPr id="11" name="Text 6"/>
          <p:cNvSpPr/>
          <p:nvPr/>
        </p:nvSpPr>
        <p:spPr>
          <a:xfrm>
            <a:off x="1082040" y="4020820"/>
            <a:ext cx="289875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F4A41"/>
                </a:solidFill>
                <a:latin typeface="Nunito" pitchFamily="34" charset="0"/>
                <a:ea typeface="Nunito" pitchFamily="34" charset="-122"/>
                <a:cs typeface="Nunito" pitchFamily="34" charset="-120"/>
              </a:rPr>
              <a:t>Ngủ, nước, vận động, ăn uống và mood mỗi ngày.</a:t>
            </a:r>
            <a:endParaRPr lang="en-US" sz="1400" dirty="0"/>
          </a:p>
        </p:txBody>
      </p:sp>
      <p:sp>
        <p:nvSpPr>
          <p:cNvPr id="12" name="Shape 7"/>
          <p:cNvSpPr/>
          <p:nvPr/>
        </p:nvSpPr>
        <p:spPr>
          <a:xfrm>
            <a:off x="4429125" y="2592705"/>
            <a:ext cx="3333750" cy="2185670"/>
          </a:xfrm>
          <a:prstGeom prst="roundRect">
            <a:avLst>
              <a:gd name="adj" fmla="val 6537"/>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13" name="Shape 8"/>
          <p:cNvSpPr/>
          <p:nvPr/>
        </p:nvSpPr>
        <p:spPr>
          <a:xfrm>
            <a:off x="4698365" y="2861945"/>
            <a:ext cx="590550" cy="590550"/>
          </a:xfrm>
          <a:prstGeom prst="roundRect">
            <a:avLst>
              <a:gd name="adj" fmla="val 50000"/>
            </a:avLst>
          </a:prstGeom>
          <a:solidFill>
            <a:srgbClr val="8ED1FF"/>
          </a:solidFill>
          <a:ln w="19050">
            <a:solidFill>
              <a:srgbClr val="0F2A22"/>
            </a:solidFill>
            <a:prstDash val="solid"/>
          </a:ln>
        </p:spPr>
      </p:sp>
      <p:pic>
        <p:nvPicPr>
          <p:cNvPr id="14" name="Image 3" descr="Clock">    </p:cNvPr>
          <p:cNvPicPr>
            <a:picLocks noChangeAspect="1"/>
          </p:cNvPicPr>
          <p:nvPr/>
        </p:nvPicPr>
        <p:blipFill>
          <a:blip r:embed="rId4"/>
          <a:srcRect l="0" r="0" t="0" b="0"/>
          <a:stretch/>
        </p:blipFill>
        <p:spPr>
          <a:xfrm>
            <a:off x="4815840" y="2979420"/>
            <a:ext cx="355600" cy="355600"/>
          </a:xfrm>
          <a:prstGeom prst="rect">
            <a:avLst/>
          </a:prstGeom>
        </p:spPr>
      </p:pic>
      <p:sp>
        <p:nvSpPr>
          <p:cNvPr id="15" name="Text 9"/>
          <p:cNvSpPr/>
          <p:nvPr/>
        </p:nvSpPr>
        <p:spPr>
          <a:xfrm>
            <a:off x="4688840" y="3589020"/>
            <a:ext cx="28987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22"/>
                </a:solidFill>
                <a:latin typeface="Fredoka" pitchFamily="34" charset="0"/>
                <a:ea typeface="Fredoka" pitchFamily="34" charset="-122"/>
                <a:cs typeface="Fredoka" pitchFamily="34" charset="-120"/>
              </a:rPr>
              <a:t>Quản lý cá nhân</a:t>
            </a:r>
            <a:endParaRPr lang="en-US" sz="2000" dirty="0"/>
          </a:p>
        </p:txBody>
      </p:sp>
      <p:sp>
        <p:nvSpPr>
          <p:cNvPr id="16" name="Text 10"/>
          <p:cNvSpPr/>
          <p:nvPr/>
        </p:nvSpPr>
        <p:spPr>
          <a:xfrm>
            <a:off x="4688840" y="4020820"/>
            <a:ext cx="289875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F4A41"/>
                </a:solidFill>
                <a:latin typeface="Nunito" pitchFamily="34" charset="0"/>
                <a:ea typeface="Nunito" pitchFamily="34" charset="-122"/>
                <a:cs typeface="Nunito" pitchFamily="34" charset="-120"/>
              </a:rPr>
              <a:t>Tiền và thời gian, gom hết về một chỗ cho gọn.</a:t>
            </a:r>
            <a:endParaRPr lang="en-US" sz="1400" dirty="0"/>
          </a:p>
        </p:txBody>
      </p:sp>
      <p:sp>
        <p:nvSpPr>
          <p:cNvPr id="17" name="Shape 11"/>
          <p:cNvSpPr/>
          <p:nvPr/>
        </p:nvSpPr>
        <p:spPr>
          <a:xfrm>
            <a:off x="8035925" y="2592705"/>
            <a:ext cx="3333750" cy="2185670"/>
          </a:xfrm>
          <a:prstGeom prst="roundRect">
            <a:avLst>
              <a:gd name="adj" fmla="val 6537"/>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18" name="Shape 12"/>
          <p:cNvSpPr/>
          <p:nvPr/>
        </p:nvSpPr>
        <p:spPr>
          <a:xfrm>
            <a:off x="8305165" y="2861945"/>
            <a:ext cx="590550" cy="590550"/>
          </a:xfrm>
          <a:prstGeom prst="roundRect">
            <a:avLst>
              <a:gd name="adj" fmla="val 50000"/>
            </a:avLst>
          </a:prstGeom>
          <a:solidFill>
            <a:srgbClr val="C8F560"/>
          </a:solidFill>
          <a:ln w="19050">
            <a:solidFill>
              <a:srgbClr val="0F2A22"/>
            </a:solidFill>
            <a:prstDash val="solid"/>
          </a:ln>
        </p:spPr>
      </p:sp>
      <p:pic>
        <p:nvPicPr>
          <p:cNvPr id="19" name="Image 4" descr="Lightbulb">    </p:cNvPr>
          <p:cNvPicPr>
            <a:picLocks noChangeAspect="1"/>
          </p:cNvPicPr>
          <p:nvPr/>
        </p:nvPicPr>
        <p:blipFill>
          <a:blip r:embed="rId5"/>
          <a:srcRect l="0" r="0" t="0" b="0"/>
          <a:stretch/>
        </p:blipFill>
        <p:spPr>
          <a:xfrm>
            <a:off x="8422640" y="2979420"/>
            <a:ext cx="355600" cy="355600"/>
          </a:xfrm>
          <a:prstGeom prst="rect">
            <a:avLst/>
          </a:prstGeom>
        </p:spPr>
      </p:pic>
      <p:sp>
        <p:nvSpPr>
          <p:cNvPr id="20" name="Text 13"/>
          <p:cNvSpPr/>
          <p:nvPr/>
        </p:nvSpPr>
        <p:spPr>
          <a:xfrm>
            <a:off x="8295640" y="3589020"/>
            <a:ext cx="289875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22"/>
                </a:solidFill>
                <a:latin typeface="Fredoka" pitchFamily="34" charset="0"/>
                <a:ea typeface="Fredoka" pitchFamily="34" charset="-122"/>
                <a:cs typeface="Fredoka" pitchFamily="34" charset="-120"/>
              </a:rPr>
              <a:t>AI thông minh</a:t>
            </a:r>
            <a:endParaRPr lang="en-US" sz="2000" dirty="0"/>
          </a:p>
        </p:txBody>
      </p:sp>
      <p:sp>
        <p:nvSpPr>
          <p:cNvPr id="21" name="Text 14"/>
          <p:cNvSpPr/>
          <p:nvPr/>
        </p:nvSpPr>
        <p:spPr>
          <a:xfrm>
            <a:off x="8295640" y="4020820"/>
            <a:ext cx="289875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F4A41"/>
                </a:solidFill>
                <a:latin typeface="Nunito" pitchFamily="34" charset="0"/>
                <a:ea typeface="Nunito" pitchFamily="34" charset="-122"/>
                <a:cs typeface="Nunito" pitchFamily="34" charset="-120"/>
              </a:rPr>
              <a:t>Bản sao sức khỏe gợi ý riêng cho từng bạn.</a:t>
            </a:r>
            <a:endParaRPr lang="en-US" sz="1400" dirty="0"/>
          </a:p>
        </p:txBody>
      </p:sp>
      <p:sp>
        <p:nvSpPr>
          <p:cNvPr id="22" name="Text 15"/>
          <p:cNvSpPr/>
          <p:nvPr/>
        </p:nvSpPr>
        <p:spPr>
          <a:xfrm>
            <a:off x="495808" y="6238241"/>
            <a:ext cx="1088339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F4A41"/>
                </a:solidFill>
                <a:latin typeface="Nunito" pitchFamily="34" charset="0"/>
                <a:ea typeface="Nunito" pitchFamily="34" charset="-122"/>
                <a:cs typeface="Nunito" pitchFamily="34" charset="-120"/>
              </a:rPr>
              <a:t>Nhóm 6 | 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DF1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0363200" y="812800"/>
            <a:ext cx="1016000" cy="1016000"/>
          </a:xfrm>
          <a:prstGeom prst="rect">
            <a:avLst/>
          </a:prstGeom>
        </p:spPr>
      </p:pic>
      <p:pic>
        <p:nvPicPr>
          <p:cNvPr id="3" name="Image 1" descr="Activity">    </p:cNvPr>
          <p:cNvPicPr>
            <a:picLocks noChangeAspect="1"/>
          </p:cNvPicPr>
          <p:nvPr/>
        </p:nvPicPr>
        <p:blipFill>
          <a:blip r:embed="rId2"/>
          <a:srcRect l="0" r="0" t="0" b="0"/>
          <a:stretch/>
        </p:blipFill>
        <p:spPr>
          <a:xfrm>
            <a:off x="10591800" y="1041400"/>
            <a:ext cx="558800" cy="558800"/>
          </a:xfrm>
          <a:prstGeom prst="rect">
            <a:avLst/>
          </a:prstGeom>
        </p:spPr>
      </p:pic>
      <p:sp>
        <p:nvSpPr>
          <p:cNvPr id="4" name="Text 0"/>
          <p:cNvSpPr/>
          <p:nvPr/>
        </p:nvSpPr>
        <p:spPr>
          <a:xfrm rot="21480000">
            <a:off x="823833" y="822325"/>
            <a:ext cx="1200150" cy="336550"/>
          </a:xfrm>
          <a:custGeom>
            <a:avLst/>
            <a:gdLst/>
            <a:ahLst/>
            <a:cxnLst/>
            <a:rect l="l" t="t" r="r" b="b"/>
            <a:pathLst>
              <a:path w="1200150" h="336550">
                <a:moveTo>
                  <a:pt x="168275" y="0"/>
                </a:moveTo>
                <a:lnTo>
                  <a:pt x="1031875" y="0"/>
                </a:lnTo>
                <a:arcTo hR="168275" wR="168275" stAng="16200000" swAng="5400000"/>
                <a:lnTo>
                  <a:pt x="1200150" y="168275"/>
                </a:lnTo>
                <a:arcTo hR="168275" wR="168275" stAng="0" swAng="5400000"/>
                <a:lnTo>
                  <a:pt x="168275" y="336550"/>
                </a:lnTo>
                <a:arcTo hR="168275" wR="168275" stAng="5400000" swAng="5400000"/>
                <a:lnTo>
                  <a:pt x="0" y="168275"/>
                </a:lnTo>
                <a:arcTo hR="168275" wR="168275" stAng="10800000" swAng="5400000"/>
                <a:close/>
              </a:path>
            </a:pathLst>
          </a:custGeom>
          <a:solidFill>
            <a:srgbClr val="C8F560"/>
          </a:solidFill>
          <a:ln w="19050">
            <a:solidFill>
              <a:srgbClr val="0F2A22"/>
            </a:solidFill>
            <a:prstDash val="solid"/>
          </a:ln>
        </p:spPr>
        <p:txBody>
          <a:bodyPr wrap="none" lIns="0" tIns="0" rIns="0" bIns="0" rtlCol="0" anchor="ctr">
            <a:normAutofit/>
          </a:bodyPr>
          <a:lstStyle/>
          <a:p>
            <a:pPr algn="ctr" indent="0" marL="0">
              <a:lnSpc>
                <a:spcPts val="1960"/>
              </a:lnSpc>
              <a:buNone/>
            </a:pPr>
            <a:r>
              <a:rPr lang="en-US" sz="1400" b="1" dirty="0">
                <a:solidFill>
                  <a:srgbClr val="0F2A22"/>
                </a:solidFill>
                <a:latin typeface="Nunito" pitchFamily="34" charset="0"/>
                <a:ea typeface="Nunito" pitchFamily="34" charset="-122"/>
                <a:cs typeface="Nunito" pitchFamily="34" charset="-120"/>
              </a:rPr>
              <a:t>Chức năng</a:t>
            </a:r>
            <a:endParaRPr lang="en-US" sz="1400" dirty="0"/>
          </a:p>
        </p:txBody>
      </p:sp>
      <p:sp>
        <p:nvSpPr>
          <p:cNvPr id="5" name="Text 1"/>
          <p:cNvSpPr/>
          <p:nvPr>
            <p:ph type="title"/>
          </p:nvPr>
        </p:nvSpPr>
        <p:spPr>
          <a:xfrm>
            <a:off x="812800" y="1270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A22"/>
                </a:solidFill>
                <a:latin typeface="Fredoka" pitchFamily="34" charset="0"/>
                <a:ea typeface="Fredoka" pitchFamily="34" charset="-122"/>
                <a:cs typeface="Fredoka" pitchFamily="34" charset="-120"/>
              </a:rPr>
              <a:t>Sức khỏe: ngủ đủ, sống chill</a:t>
            </a:r>
            <a:endParaRPr lang="en-US" sz="3600" dirty="0"/>
          </a:p>
        </p:txBody>
      </p:sp>
      <p:sp>
        <p:nvSpPr>
          <p:cNvPr id="6" name="Shape 2"/>
          <p:cNvSpPr/>
          <p:nvPr/>
        </p:nvSpPr>
        <p:spPr>
          <a:xfrm>
            <a:off x="822325" y="2087245"/>
            <a:ext cx="5137150" cy="2272030"/>
          </a:xfrm>
          <a:prstGeom prst="roundRect">
            <a:avLst>
              <a:gd name="adj" fmla="val 6288"/>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7" name="Shape 3"/>
          <p:cNvSpPr/>
          <p:nvPr/>
        </p:nvSpPr>
        <p:spPr>
          <a:xfrm>
            <a:off x="1116965" y="2381886"/>
            <a:ext cx="590550" cy="590550"/>
          </a:xfrm>
          <a:prstGeom prst="roundRect">
            <a:avLst>
              <a:gd name="adj" fmla="val 50000"/>
            </a:avLst>
          </a:prstGeom>
          <a:solidFill>
            <a:srgbClr val="C8F560"/>
          </a:solidFill>
          <a:ln w="19050">
            <a:solidFill>
              <a:srgbClr val="0F2A22"/>
            </a:solidFill>
            <a:prstDash val="solid"/>
          </a:ln>
        </p:spPr>
      </p:sp>
      <p:pic>
        <p:nvPicPr>
          <p:cNvPr id="8" name="Image 2" descr="Clock">    </p:cNvPr>
          <p:cNvPicPr>
            <a:picLocks noChangeAspect="1"/>
          </p:cNvPicPr>
          <p:nvPr/>
        </p:nvPicPr>
        <p:blipFill>
          <a:blip r:embed="rId3"/>
          <a:srcRect l="0" r="0" t="0" b="0"/>
          <a:stretch/>
        </p:blipFill>
        <p:spPr>
          <a:xfrm>
            <a:off x="1234440" y="2499361"/>
            <a:ext cx="355600" cy="355600"/>
          </a:xfrm>
          <a:prstGeom prst="rect">
            <a:avLst/>
          </a:prstGeom>
        </p:spPr>
      </p:pic>
      <p:sp>
        <p:nvSpPr>
          <p:cNvPr id="9" name="Text 4"/>
          <p:cNvSpPr/>
          <p:nvPr/>
        </p:nvSpPr>
        <p:spPr>
          <a:xfrm>
            <a:off x="1869440" y="2524761"/>
            <a:ext cx="308400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22"/>
                </a:solidFill>
                <a:latin typeface="Fredoka" pitchFamily="34" charset="0"/>
                <a:ea typeface="Fredoka" pitchFamily="34" charset="-122"/>
                <a:cs typeface="Fredoka" pitchFamily="34" charset="-120"/>
              </a:rPr>
              <a:t>Nghỉ ngơi và sinh hoạt</a:t>
            </a:r>
            <a:endParaRPr lang="en-US" sz="2000" dirty="0"/>
          </a:p>
        </p:txBody>
      </p:sp>
      <p:sp>
        <p:nvSpPr>
          <p:cNvPr id="10" name="Text 5"/>
          <p:cNvSpPr/>
          <p:nvPr/>
        </p:nvSpPr>
        <p:spPr>
          <a:xfrm>
            <a:off x="1171448" y="3159761"/>
            <a:ext cx="4632300" cy="9398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2F4A41"/>
                </a:solidFill>
                <a:latin typeface="Nunito" pitchFamily="34" charset="0"/>
                <a:ea typeface="Nunito" pitchFamily="34" charset="-122"/>
                <a:cs typeface="Nunito" pitchFamily="34" charset="-120"/>
              </a:rPr>
              <a:t>Theo dõi giờ ngủ, giờ thức dậy</a:t>
            </a:r>
            <a:endParaRPr lang="en-US" sz="1600" dirty="0"/>
          </a:p>
          <a:p>
            <a:pPr algn="l" marL="189992" indent="-189992">
              <a:lnSpc>
                <a:spcPts val="2400"/>
              </a:lnSpc>
              <a:buSzPct val="100000"/>
              <a:buChar char="•"/>
            </a:pPr>
            <a:r>
              <a:rPr lang="en-US" sz="1600" dirty="0">
                <a:solidFill>
                  <a:srgbClr val="2F4A41"/>
                </a:solidFill>
                <a:latin typeface="Nunito" pitchFamily="34" charset="0"/>
                <a:ea typeface="Nunito" pitchFamily="34" charset="-122"/>
                <a:cs typeface="Nunito" pitchFamily="34" charset="-120"/>
              </a:rPr>
              <a:t>Nhắc uống nước, vận động và nghỉ giải lao</a:t>
            </a:r>
            <a:endParaRPr lang="en-US" sz="1600" dirty="0"/>
          </a:p>
          <a:p>
            <a:pPr algn="l" marL="189992" indent="-189992">
              <a:lnSpc>
                <a:spcPts val="2400"/>
              </a:lnSpc>
              <a:buSzPct val="100000"/>
              <a:buChar char="•"/>
            </a:pPr>
            <a:r>
              <a:rPr lang="en-US" sz="1600" dirty="0">
                <a:solidFill>
                  <a:srgbClr val="2F4A41"/>
                </a:solidFill>
                <a:latin typeface="Nunito" pitchFamily="34" charset="0"/>
                <a:ea typeface="Nunito" pitchFamily="34" charset="-122"/>
                <a:cs typeface="Nunito" pitchFamily="34" charset="-120"/>
              </a:rPr>
              <a:t>Ghi lại tâm trạng mỗi ngày</a:t>
            </a:r>
            <a:endParaRPr lang="en-US" sz="1600" dirty="0"/>
          </a:p>
        </p:txBody>
      </p:sp>
      <p:sp>
        <p:nvSpPr>
          <p:cNvPr id="11" name="Shape 6"/>
          <p:cNvSpPr/>
          <p:nvPr/>
        </p:nvSpPr>
        <p:spPr>
          <a:xfrm>
            <a:off x="6232525" y="2087245"/>
            <a:ext cx="5137150" cy="2272030"/>
          </a:xfrm>
          <a:prstGeom prst="roundRect">
            <a:avLst>
              <a:gd name="adj" fmla="val 6288"/>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12" name="Shape 7"/>
          <p:cNvSpPr/>
          <p:nvPr/>
        </p:nvSpPr>
        <p:spPr>
          <a:xfrm>
            <a:off x="6527165" y="2381886"/>
            <a:ext cx="590550" cy="590550"/>
          </a:xfrm>
          <a:prstGeom prst="roundRect">
            <a:avLst>
              <a:gd name="adj" fmla="val 50000"/>
            </a:avLst>
          </a:prstGeom>
          <a:solidFill>
            <a:srgbClr val="8ED1FF"/>
          </a:solidFill>
          <a:ln w="19050">
            <a:solidFill>
              <a:srgbClr val="0F2A22"/>
            </a:solidFill>
            <a:prstDash val="solid"/>
          </a:ln>
        </p:spPr>
      </p:sp>
      <p:pic>
        <p:nvPicPr>
          <p:cNvPr id="13" name="Image 3" descr="Activity">    </p:cNvPr>
          <p:cNvPicPr>
            <a:picLocks noChangeAspect="1"/>
          </p:cNvPicPr>
          <p:nvPr/>
        </p:nvPicPr>
        <p:blipFill>
          <a:blip r:embed="rId4"/>
          <a:srcRect l="0" r="0" t="0" b="0"/>
          <a:stretch/>
        </p:blipFill>
        <p:spPr>
          <a:xfrm>
            <a:off x="6644640" y="2499361"/>
            <a:ext cx="355600" cy="355600"/>
          </a:xfrm>
          <a:prstGeom prst="rect">
            <a:avLst/>
          </a:prstGeom>
        </p:spPr>
      </p:pic>
      <p:sp>
        <p:nvSpPr>
          <p:cNvPr id="14" name="Text 8"/>
          <p:cNvSpPr/>
          <p:nvPr/>
        </p:nvSpPr>
        <p:spPr>
          <a:xfrm>
            <a:off x="7279640" y="2524761"/>
            <a:ext cx="313744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22"/>
                </a:solidFill>
                <a:latin typeface="Fredoka" pitchFamily="34" charset="0"/>
                <a:ea typeface="Fredoka" pitchFamily="34" charset="-122"/>
                <a:cs typeface="Fredoka" pitchFamily="34" charset="-120"/>
              </a:rPr>
              <a:t>Ăn uống và thực phẩm</a:t>
            </a:r>
            <a:endParaRPr lang="en-US" sz="2000" dirty="0"/>
          </a:p>
        </p:txBody>
      </p:sp>
      <p:sp>
        <p:nvSpPr>
          <p:cNvPr id="15" name="Text 9"/>
          <p:cNvSpPr/>
          <p:nvPr/>
        </p:nvSpPr>
        <p:spPr>
          <a:xfrm>
            <a:off x="6581648" y="3159761"/>
            <a:ext cx="4632300" cy="6350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2F4A41"/>
                </a:solidFill>
                <a:latin typeface="Nunito" pitchFamily="34" charset="0"/>
                <a:ea typeface="Nunito" pitchFamily="34" charset="-122"/>
                <a:cs typeface="Nunito" pitchFamily="34" charset="-120"/>
              </a:rPr>
              <a:t>Ghi bữa ăn, theo dõi nước uống</a:t>
            </a:r>
            <a:endParaRPr lang="en-US" sz="1600" dirty="0"/>
          </a:p>
          <a:p>
            <a:pPr algn="l" marL="189992" indent="-189992">
              <a:lnSpc>
                <a:spcPts val="2400"/>
              </a:lnSpc>
              <a:buSzPct val="100000"/>
              <a:buChar char="•"/>
            </a:pPr>
            <a:r>
              <a:rPr lang="en-US" sz="1600" dirty="0">
                <a:solidFill>
                  <a:srgbClr val="2F4A41"/>
                </a:solidFill>
                <a:latin typeface="Nunito" pitchFamily="34" charset="0"/>
                <a:ea typeface="Nunito" pitchFamily="34" charset="-122"/>
                <a:cs typeface="Nunito" pitchFamily="34" charset="-120"/>
              </a:rPr>
              <a:t>Gợi ý thực đơn cân bằng, hợp ngân sách</a:t>
            </a:r>
            <a:endParaRPr lang="en-US" sz="1600" dirty="0"/>
          </a:p>
        </p:txBody>
      </p:sp>
      <p:sp>
        <p:nvSpPr>
          <p:cNvPr id="16" name="Text 10"/>
          <p:cNvSpPr/>
          <p:nvPr/>
        </p:nvSpPr>
        <p:spPr>
          <a:xfrm>
            <a:off x="495808" y="6238241"/>
            <a:ext cx="1088339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F4A41"/>
                </a:solidFill>
                <a:latin typeface="Nunito" pitchFamily="34" charset="0"/>
                <a:ea typeface="Nunito" pitchFamily="34" charset="-122"/>
                <a:cs typeface="Nunito" pitchFamily="34" charset="-120"/>
              </a:rPr>
              <a:t>Nhóm 6 | 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BE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0363200" y="812800"/>
            <a:ext cx="1016000" cy="1016000"/>
          </a:xfrm>
          <a:prstGeom prst="rect">
            <a:avLst/>
          </a:prstGeom>
        </p:spPr>
      </p:pic>
      <p:pic>
        <p:nvPicPr>
          <p:cNvPr id="3" name="Image 1" descr="Chart">    </p:cNvPr>
          <p:cNvPicPr>
            <a:picLocks noChangeAspect="1"/>
          </p:cNvPicPr>
          <p:nvPr/>
        </p:nvPicPr>
        <p:blipFill>
          <a:blip r:embed="rId2"/>
          <a:srcRect l="0" r="0" t="0" b="0"/>
          <a:stretch/>
        </p:blipFill>
        <p:spPr>
          <a:xfrm>
            <a:off x="10591800" y="1041400"/>
            <a:ext cx="558800" cy="558800"/>
          </a:xfrm>
          <a:prstGeom prst="rect">
            <a:avLst/>
          </a:prstGeom>
        </p:spPr>
      </p:pic>
      <p:sp>
        <p:nvSpPr>
          <p:cNvPr id="4" name="Text 0"/>
          <p:cNvSpPr/>
          <p:nvPr/>
        </p:nvSpPr>
        <p:spPr>
          <a:xfrm rot="21480000">
            <a:off x="823833" y="822326"/>
            <a:ext cx="1200150" cy="336550"/>
          </a:xfrm>
          <a:custGeom>
            <a:avLst/>
            <a:gdLst/>
            <a:ahLst/>
            <a:cxnLst/>
            <a:rect l="l" t="t" r="r" b="b"/>
            <a:pathLst>
              <a:path w="1200150" h="336550">
                <a:moveTo>
                  <a:pt x="168275" y="0"/>
                </a:moveTo>
                <a:lnTo>
                  <a:pt x="1031875" y="0"/>
                </a:lnTo>
                <a:arcTo hR="168275" wR="168275" stAng="16200000" swAng="5400000"/>
                <a:lnTo>
                  <a:pt x="1200150" y="168275"/>
                </a:lnTo>
                <a:arcTo hR="168275" wR="168275" stAng="0" swAng="5400000"/>
                <a:lnTo>
                  <a:pt x="168275" y="336550"/>
                </a:lnTo>
                <a:arcTo hR="168275" wR="168275" stAng="5400000" swAng="5400000"/>
                <a:lnTo>
                  <a:pt x="0" y="168275"/>
                </a:lnTo>
                <a:arcTo hR="168275" wR="168275" stAng="10800000" swAng="5400000"/>
                <a:close/>
              </a:path>
            </a:pathLst>
          </a:custGeom>
          <a:solidFill>
            <a:srgbClr val="C8F560"/>
          </a:solidFill>
          <a:ln w="19050">
            <a:solidFill>
              <a:srgbClr val="0F2A22"/>
            </a:solidFill>
            <a:prstDash val="solid"/>
          </a:ln>
        </p:spPr>
        <p:txBody>
          <a:bodyPr wrap="none" lIns="0" tIns="0" rIns="0" bIns="0" rtlCol="0" anchor="ctr">
            <a:normAutofit/>
          </a:bodyPr>
          <a:lstStyle/>
          <a:p>
            <a:pPr algn="ctr" indent="0" marL="0">
              <a:lnSpc>
                <a:spcPts val="1960"/>
              </a:lnSpc>
              <a:buNone/>
            </a:pPr>
            <a:r>
              <a:rPr lang="en-US" sz="1400" b="1" dirty="0">
                <a:solidFill>
                  <a:srgbClr val="0F2A22"/>
                </a:solidFill>
                <a:latin typeface="Nunito" pitchFamily="34" charset="0"/>
                <a:ea typeface="Nunito" pitchFamily="34" charset="-122"/>
                <a:cs typeface="Nunito" pitchFamily="34" charset="-120"/>
              </a:rPr>
              <a:t>Chức năng</a:t>
            </a:r>
            <a:endParaRPr lang="en-US" sz="1400" dirty="0"/>
          </a:p>
        </p:txBody>
      </p:sp>
      <p:sp>
        <p:nvSpPr>
          <p:cNvPr id="5" name="Text 1"/>
          <p:cNvSpPr/>
          <p:nvPr>
            <p:ph type="title"/>
          </p:nvPr>
        </p:nvSpPr>
        <p:spPr>
          <a:xfrm>
            <a:off x="812800" y="1270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A22"/>
                </a:solidFill>
                <a:latin typeface="Fredoka" pitchFamily="34" charset="0"/>
                <a:ea typeface="Fredoka" pitchFamily="34" charset="-122"/>
                <a:cs typeface="Fredoka" pitchFamily="34" charset="-120"/>
              </a:rPr>
              <a:t>Tiền và thời gian: quản cho gọn</a:t>
            </a:r>
            <a:endParaRPr lang="en-US" sz="3600" dirty="0"/>
          </a:p>
        </p:txBody>
      </p:sp>
      <p:sp>
        <p:nvSpPr>
          <p:cNvPr id="6" name="Shape 2"/>
          <p:cNvSpPr/>
          <p:nvPr/>
        </p:nvSpPr>
        <p:spPr>
          <a:xfrm>
            <a:off x="822325" y="2087245"/>
            <a:ext cx="5137150" cy="2272030"/>
          </a:xfrm>
          <a:prstGeom prst="roundRect">
            <a:avLst>
              <a:gd name="adj" fmla="val 6288"/>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7" name="Shape 3"/>
          <p:cNvSpPr/>
          <p:nvPr/>
        </p:nvSpPr>
        <p:spPr>
          <a:xfrm>
            <a:off x="1116965" y="2381886"/>
            <a:ext cx="590550" cy="590550"/>
          </a:xfrm>
          <a:prstGeom prst="roundRect">
            <a:avLst>
              <a:gd name="adj" fmla="val 50000"/>
            </a:avLst>
          </a:prstGeom>
          <a:solidFill>
            <a:srgbClr val="C8F560"/>
          </a:solidFill>
          <a:ln w="19050">
            <a:solidFill>
              <a:srgbClr val="0F2A22"/>
            </a:solidFill>
            <a:prstDash val="solid"/>
          </a:ln>
        </p:spPr>
      </p:sp>
      <p:pic>
        <p:nvPicPr>
          <p:cNvPr id="8" name="Image 2" descr="Chart">    </p:cNvPr>
          <p:cNvPicPr>
            <a:picLocks noChangeAspect="1"/>
          </p:cNvPicPr>
          <p:nvPr/>
        </p:nvPicPr>
        <p:blipFill>
          <a:blip r:embed="rId3"/>
          <a:srcRect l="0" r="0" t="0" b="0"/>
          <a:stretch/>
        </p:blipFill>
        <p:spPr>
          <a:xfrm>
            <a:off x="1234440" y="2499361"/>
            <a:ext cx="355600" cy="355600"/>
          </a:xfrm>
          <a:prstGeom prst="rect">
            <a:avLst/>
          </a:prstGeom>
        </p:spPr>
      </p:pic>
      <p:sp>
        <p:nvSpPr>
          <p:cNvPr id="9" name="Text 4"/>
          <p:cNvSpPr/>
          <p:nvPr/>
        </p:nvSpPr>
        <p:spPr>
          <a:xfrm>
            <a:off x="1869440" y="2524761"/>
            <a:ext cx="215446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22"/>
                </a:solidFill>
                <a:latin typeface="Fredoka" pitchFamily="34" charset="0"/>
                <a:ea typeface="Fredoka" pitchFamily="34" charset="-122"/>
                <a:cs typeface="Fredoka" pitchFamily="34" charset="-120"/>
              </a:rPr>
              <a:t>Quản lý chi tiêu</a:t>
            </a:r>
            <a:endParaRPr lang="en-US" sz="2000" dirty="0"/>
          </a:p>
        </p:txBody>
      </p:sp>
      <p:sp>
        <p:nvSpPr>
          <p:cNvPr id="10" name="Text 5"/>
          <p:cNvSpPr/>
          <p:nvPr/>
        </p:nvSpPr>
        <p:spPr>
          <a:xfrm>
            <a:off x="1171448" y="3159761"/>
            <a:ext cx="4632300" cy="9398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2F4A41"/>
                </a:solidFill>
                <a:latin typeface="Nunito" pitchFamily="34" charset="0"/>
                <a:ea typeface="Nunito" pitchFamily="34" charset="-122"/>
                <a:cs typeface="Nunito" pitchFamily="34" charset="-120"/>
              </a:rPr>
              <a:t>Ghi chép thu nhập và chi phí</a:t>
            </a:r>
            <a:endParaRPr lang="en-US" sz="1600" dirty="0"/>
          </a:p>
          <a:p>
            <a:pPr algn="l" marL="189992" indent="-189992">
              <a:lnSpc>
                <a:spcPts val="2400"/>
              </a:lnSpc>
              <a:buSzPct val="100000"/>
              <a:buChar char="•"/>
            </a:pPr>
            <a:r>
              <a:rPr lang="en-US" sz="1600" dirty="0">
                <a:solidFill>
                  <a:srgbClr val="2F4A41"/>
                </a:solidFill>
                <a:latin typeface="Nunito" pitchFamily="34" charset="0"/>
                <a:ea typeface="Nunito" pitchFamily="34" charset="-122"/>
                <a:cs typeface="Nunito" pitchFamily="34" charset="-120"/>
              </a:rPr>
              <a:t>Phân loại tiền ăn uống, học tập, giải trí</a:t>
            </a:r>
            <a:endParaRPr lang="en-US" sz="1600" dirty="0"/>
          </a:p>
          <a:p>
            <a:pPr algn="l" marL="189992" indent="-189992">
              <a:lnSpc>
                <a:spcPts val="2400"/>
              </a:lnSpc>
              <a:buSzPct val="100000"/>
              <a:buChar char="•"/>
            </a:pPr>
            <a:r>
              <a:rPr lang="en-US" sz="1600" dirty="0">
                <a:solidFill>
                  <a:srgbClr val="2F4A41"/>
                </a:solidFill>
                <a:latin typeface="Nunito" pitchFamily="34" charset="0"/>
                <a:ea typeface="Nunito" pitchFamily="34" charset="-122"/>
                <a:cs typeface="Nunito" pitchFamily="34" charset="-120"/>
              </a:rPr>
              <a:t>Cảnh báo khi chi tiêu vượt ngân sách</a:t>
            </a:r>
            <a:endParaRPr lang="en-US" sz="1600" dirty="0"/>
          </a:p>
        </p:txBody>
      </p:sp>
      <p:sp>
        <p:nvSpPr>
          <p:cNvPr id="11" name="Shape 6"/>
          <p:cNvSpPr/>
          <p:nvPr/>
        </p:nvSpPr>
        <p:spPr>
          <a:xfrm>
            <a:off x="6232525" y="2087245"/>
            <a:ext cx="5137150" cy="2272030"/>
          </a:xfrm>
          <a:prstGeom prst="roundRect">
            <a:avLst>
              <a:gd name="adj" fmla="val 6288"/>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12" name="Shape 7"/>
          <p:cNvSpPr/>
          <p:nvPr/>
        </p:nvSpPr>
        <p:spPr>
          <a:xfrm>
            <a:off x="6527165" y="2381886"/>
            <a:ext cx="590550" cy="590550"/>
          </a:xfrm>
          <a:prstGeom prst="roundRect">
            <a:avLst>
              <a:gd name="adj" fmla="val 50000"/>
            </a:avLst>
          </a:prstGeom>
          <a:solidFill>
            <a:srgbClr val="8ED1FF"/>
          </a:solidFill>
          <a:ln w="19050">
            <a:solidFill>
              <a:srgbClr val="0F2A22"/>
            </a:solidFill>
            <a:prstDash val="solid"/>
          </a:ln>
        </p:spPr>
      </p:sp>
      <p:pic>
        <p:nvPicPr>
          <p:cNvPr id="13" name="Image 3" descr="Clock">    </p:cNvPr>
          <p:cNvPicPr>
            <a:picLocks noChangeAspect="1"/>
          </p:cNvPicPr>
          <p:nvPr/>
        </p:nvPicPr>
        <p:blipFill>
          <a:blip r:embed="rId4"/>
          <a:srcRect l="0" r="0" t="0" b="0"/>
          <a:stretch/>
        </p:blipFill>
        <p:spPr>
          <a:xfrm>
            <a:off x="6644640" y="2499361"/>
            <a:ext cx="355600" cy="355600"/>
          </a:xfrm>
          <a:prstGeom prst="rect">
            <a:avLst/>
          </a:prstGeom>
        </p:spPr>
      </p:pic>
      <p:sp>
        <p:nvSpPr>
          <p:cNvPr id="14" name="Text 8"/>
          <p:cNvSpPr/>
          <p:nvPr/>
        </p:nvSpPr>
        <p:spPr>
          <a:xfrm>
            <a:off x="7279640" y="2524761"/>
            <a:ext cx="23951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2A22"/>
                </a:solidFill>
                <a:latin typeface="Fredoka" pitchFamily="34" charset="0"/>
                <a:ea typeface="Fredoka" pitchFamily="34" charset="-122"/>
                <a:cs typeface="Fredoka" pitchFamily="34" charset="-120"/>
              </a:rPr>
              <a:t>Quản lý thời gian</a:t>
            </a:r>
            <a:endParaRPr lang="en-US" sz="2000" dirty="0"/>
          </a:p>
        </p:txBody>
      </p:sp>
      <p:sp>
        <p:nvSpPr>
          <p:cNvPr id="15" name="Text 9"/>
          <p:cNvSpPr/>
          <p:nvPr/>
        </p:nvSpPr>
        <p:spPr>
          <a:xfrm>
            <a:off x="6581648" y="3159761"/>
            <a:ext cx="4632300" cy="9398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2F4A41"/>
                </a:solidFill>
                <a:latin typeface="Nunito" pitchFamily="34" charset="0"/>
                <a:ea typeface="Nunito" pitchFamily="34" charset="-122"/>
                <a:cs typeface="Nunito" pitchFamily="34" charset="-120"/>
              </a:rPr>
              <a:t>Lập thời khóa biểu, chia thời gian học và nghỉ</a:t>
            </a:r>
            <a:endParaRPr lang="en-US" sz="1600" dirty="0"/>
          </a:p>
          <a:p>
            <a:pPr algn="l" marL="189992" indent="-189992">
              <a:lnSpc>
                <a:spcPts val="2400"/>
              </a:lnSpc>
              <a:buSzPct val="100000"/>
              <a:buChar char="•"/>
            </a:pPr>
            <a:r>
              <a:rPr lang="en-US" sz="1600" dirty="0">
                <a:solidFill>
                  <a:srgbClr val="2F4A41"/>
                </a:solidFill>
                <a:latin typeface="Nunito" pitchFamily="34" charset="0"/>
                <a:ea typeface="Nunito" pitchFamily="34" charset="-122"/>
                <a:cs typeface="Nunito" pitchFamily="34" charset="-120"/>
              </a:rPr>
              <a:t>Thống kê thời gian dùng điện thoại và nhiệm vụ đã xong</a:t>
            </a:r>
            <a:endParaRPr lang="en-US" sz="1600" dirty="0"/>
          </a:p>
        </p:txBody>
      </p:sp>
      <p:sp>
        <p:nvSpPr>
          <p:cNvPr id="16" name="Text 10"/>
          <p:cNvSpPr/>
          <p:nvPr/>
        </p:nvSpPr>
        <p:spPr>
          <a:xfrm>
            <a:off x="495808" y="6238239"/>
            <a:ext cx="1088339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F4A41"/>
                </a:solidFill>
                <a:latin typeface="Nunito" pitchFamily="34" charset="0"/>
                <a:ea typeface="Nunito" pitchFamily="34" charset="-122"/>
                <a:cs typeface="Nunito" pitchFamily="34" charset="-120"/>
              </a:rPr>
              <a:t>Nhóm 6 | 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DF1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0363200" y="812800"/>
            <a:ext cx="1016000" cy="1016000"/>
          </a:xfrm>
          <a:prstGeom prst="rect">
            <a:avLst/>
          </a:prstGeom>
        </p:spPr>
      </p:pic>
      <p:pic>
        <p:nvPicPr>
          <p:cNvPr id="3" name="Image 1" descr="Play">    </p:cNvPr>
          <p:cNvPicPr>
            <a:picLocks noChangeAspect="1"/>
          </p:cNvPicPr>
          <p:nvPr/>
        </p:nvPicPr>
        <p:blipFill>
          <a:blip r:embed="rId2"/>
          <a:srcRect l="0" r="0" t="0" b="0"/>
          <a:stretch/>
        </p:blipFill>
        <p:spPr>
          <a:xfrm>
            <a:off x="10591800" y="1041400"/>
            <a:ext cx="558800" cy="558800"/>
          </a:xfrm>
          <a:prstGeom prst="rect">
            <a:avLst/>
          </a:prstGeom>
        </p:spPr>
      </p:pic>
      <p:sp>
        <p:nvSpPr>
          <p:cNvPr id="4" name="Text 0"/>
          <p:cNvSpPr/>
          <p:nvPr/>
        </p:nvSpPr>
        <p:spPr>
          <a:xfrm rot="21480000">
            <a:off x="823833" y="822326"/>
            <a:ext cx="1200150" cy="336550"/>
          </a:xfrm>
          <a:custGeom>
            <a:avLst/>
            <a:gdLst/>
            <a:ahLst/>
            <a:cxnLst/>
            <a:rect l="l" t="t" r="r" b="b"/>
            <a:pathLst>
              <a:path w="1200150" h="336550">
                <a:moveTo>
                  <a:pt x="168275" y="0"/>
                </a:moveTo>
                <a:lnTo>
                  <a:pt x="1031875" y="0"/>
                </a:lnTo>
                <a:arcTo hR="168275" wR="168275" stAng="16200000" swAng="5400000"/>
                <a:lnTo>
                  <a:pt x="1200150" y="168275"/>
                </a:lnTo>
                <a:arcTo hR="168275" wR="168275" stAng="0" swAng="5400000"/>
                <a:lnTo>
                  <a:pt x="168275" y="336550"/>
                </a:lnTo>
                <a:arcTo hR="168275" wR="168275" stAng="5400000" swAng="5400000"/>
                <a:lnTo>
                  <a:pt x="0" y="168275"/>
                </a:lnTo>
                <a:arcTo hR="168275" wR="168275" stAng="10800000" swAng="5400000"/>
                <a:close/>
              </a:path>
            </a:pathLst>
          </a:custGeom>
          <a:solidFill>
            <a:srgbClr val="C8F560"/>
          </a:solidFill>
          <a:ln w="19050">
            <a:solidFill>
              <a:srgbClr val="0F2A22"/>
            </a:solidFill>
            <a:prstDash val="solid"/>
          </a:ln>
        </p:spPr>
        <p:txBody>
          <a:bodyPr wrap="none" lIns="0" tIns="0" rIns="0" bIns="0" rtlCol="0" anchor="ctr">
            <a:normAutofit/>
          </a:bodyPr>
          <a:lstStyle/>
          <a:p>
            <a:pPr algn="ctr" indent="0" marL="0">
              <a:lnSpc>
                <a:spcPts val="1960"/>
              </a:lnSpc>
              <a:buNone/>
            </a:pPr>
            <a:r>
              <a:rPr lang="en-US" sz="1400" b="1" dirty="0">
                <a:solidFill>
                  <a:srgbClr val="0F2A22"/>
                </a:solidFill>
                <a:latin typeface="Nunito" pitchFamily="34" charset="0"/>
                <a:ea typeface="Nunito" pitchFamily="34" charset="-122"/>
                <a:cs typeface="Nunito" pitchFamily="34" charset="-120"/>
              </a:rPr>
              <a:t>Chức năng</a:t>
            </a:r>
            <a:endParaRPr lang="en-US" sz="1400" dirty="0"/>
          </a:p>
        </p:txBody>
      </p:sp>
      <p:sp>
        <p:nvSpPr>
          <p:cNvPr id="5" name="Text 1"/>
          <p:cNvSpPr/>
          <p:nvPr>
            <p:ph type="title"/>
          </p:nvPr>
        </p:nvSpPr>
        <p:spPr>
          <a:xfrm>
            <a:off x="812800" y="1270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A22"/>
                </a:solidFill>
                <a:latin typeface="Fredoka" pitchFamily="34" charset="0"/>
                <a:ea typeface="Fredoka" pitchFamily="34" charset="-122"/>
                <a:cs typeface="Fredoka" pitchFamily="34" charset="-120"/>
              </a:rPr>
              <a:t>Thử trước, tin sau</a:t>
            </a:r>
            <a:endParaRPr lang="en-US" sz="3600" dirty="0"/>
          </a:p>
        </p:txBody>
      </p:sp>
      <p:sp>
        <p:nvSpPr>
          <p:cNvPr id="6" name="Text 2"/>
          <p:cNvSpPr/>
          <p:nvPr/>
        </p:nvSpPr>
        <p:spPr>
          <a:xfrm>
            <a:off x="812800" y="2026921"/>
            <a:ext cx="9483725"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2F4A41"/>
                </a:solidFill>
                <a:latin typeface="Nunito" pitchFamily="34" charset="0"/>
                <a:ea typeface="Nunito" pitchFamily="34" charset="-122"/>
                <a:cs typeface="Nunito" pitchFamily="34" charset="-120"/>
              </a:rPr>
              <a:t>Mô phỏng sức khỏe tương lai: thử đổi thói quen và so sánh các kịch bản sinh hoạt.</a:t>
            </a:r>
            <a:endParaRPr lang="en-US" sz="1700" dirty="0"/>
          </a:p>
        </p:txBody>
      </p:sp>
      <p:sp>
        <p:nvSpPr>
          <p:cNvPr id="7" name="Shape 3"/>
          <p:cNvSpPr/>
          <p:nvPr/>
        </p:nvSpPr>
        <p:spPr>
          <a:xfrm>
            <a:off x="822325" y="2592707"/>
            <a:ext cx="3028950" cy="2200910"/>
          </a:xfrm>
          <a:prstGeom prst="roundRect">
            <a:avLst>
              <a:gd name="adj" fmla="val 6492"/>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8" name="Text 4"/>
          <p:cNvSpPr/>
          <p:nvPr/>
        </p:nvSpPr>
        <p:spPr>
          <a:xfrm>
            <a:off x="1066165" y="2836546"/>
            <a:ext cx="438150" cy="438150"/>
          </a:xfrm>
          <a:custGeom>
            <a:avLst/>
            <a:gdLst/>
            <a:ahLst/>
            <a:cxnLst/>
            <a:rect l="l" t="t" r="r" b="b"/>
            <a:pathLst>
              <a:path w="438150" h="438150">
                <a:moveTo>
                  <a:pt x="219075" y="0"/>
                </a:moveTo>
                <a:lnTo>
                  <a:pt x="219075" y="0"/>
                </a:lnTo>
                <a:arcTo hR="219075" wR="219075" stAng="16200000" swAng="5400000"/>
                <a:lnTo>
                  <a:pt x="438150" y="219075"/>
                </a:lnTo>
                <a:arcTo hR="219075" wR="219075" stAng="0" swAng="5400000"/>
                <a:lnTo>
                  <a:pt x="219075" y="438150"/>
                </a:lnTo>
                <a:arcTo hR="219075" wR="219075" stAng="5400000" swAng="5400000"/>
                <a:lnTo>
                  <a:pt x="0" y="219075"/>
                </a:lnTo>
                <a:arcTo hR="219075" wR="219075" stAng="10800000" swAng="5400000"/>
                <a:close/>
              </a:path>
            </a:pathLst>
          </a:custGeom>
          <a:solidFill>
            <a:srgbClr val="C8F560"/>
          </a:solidFill>
          <a:ln w="19050">
            <a:solidFill>
              <a:srgbClr val="0F2A22"/>
            </a:solidFill>
            <a:prstDash val="solid"/>
          </a:ln>
        </p:spPr>
        <p:txBody>
          <a:bodyPr wrap="square" lIns="5715" tIns="5715" rIns="5715" bIns="5715" rtlCol="0" anchor="ctr">
            <a:normAutofit/>
          </a:bodyPr>
          <a:lstStyle/>
          <a:p>
            <a:pPr algn="ctr" indent="0" marL="0">
              <a:lnSpc>
                <a:spcPts val="2520"/>
              </a:lnSpc>
              <a:buNone/>
            </a:pPr>
            <a:r>
              <a:rPr lang="en-US" sz="1800" b="1" dirty="0">
                <a:solidFill>
                  <a:srgbClr val="0F2A22"/>
                </a:solidFill>
                <a:latin typeface="Fredoka" pitchFamily="34" charset="0"/>
                <a:ea typeface="Fredoka" pitchFamily="34" charset="-122"/>
                <a:cs typeface="Fredoka" pitchFamily="34" charset="-120"/>
              </a:rPr>
              <a:t>1</a:t>
            </a:r>
            <a:endParaRPr lang="en-US" sz="1800" dirty="0"/>
          </a:p>
        </p:txBody>
      </p:sp>
      <p:sp>
        <p:nvSpPr>
          <p:cNvPr id="9" name="Text 5"/>
          <p:cNvSpPr/>
          <p:nvPr/>
        </p:nvSpPr>
        <p:spPr>
          <a:xfrm>
            <a:off x="1056640" y="3411221"/>
            <a:ext cx="26371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22"/>
                </a:solidFill>
                <a:latin typeface="Fredoka" pitchFamily="34" charset="0"/>
                <a:ea typeface="Fredoka" pitchFamily="34" charset="-122"/>
                <a:cs typeface="Fredoka" pitchFamily="34" charset="-120"/>
              </a:rPr>
              <a:t>Thử đổi thói quen</a:t>
            </a:r>
            <a:endParaRPr lang="en-US" sz="1800" dirty="0"/>
          </a:p>
        </p:txBody>
      </p:sp>
      <p:sp>
        <p:nvSpPr>
          <p:cNvPr id="10" name="Text 6"/>
          <p:cNvSpPr/>
          <p:nvPr/>
        </p:nvSpPr>
        <p:spPr>
          <a:xfrm>
            <a:off x="1056640" y="3812539"/>
            <a:ext cx="26371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F4A41"/>
                </a:solidFill>
                <a:latin typeface="Nunito" pitchFamily="34" charset="0"/>
                <a:ea typeface="Nunito" pitchFamily="34" charset="-122"/>
                <a:cs typeface="Nunito" pitchFamily="34" charset="-120"/>
              </a:rPr>
              <a:t>Cho người dùng thử thay đổi thói quen sinh hoạt hằng ngày.</a:t>
            </a:r>
            <a:endParaRPr lang="en-US" sz="1400" dirty="0"/>
          </a:p>
        </p:txBody>
      </p:sp>
      <p:pic>
        <p:nvPicPr>
          <p:cNvPr id="11" name="Image 2" descr="arrow-right">    </p:cNvPr>
          <p:cNvPicPr>
            <a:picLocks noChangeAspect="1"/>
          </p:cNvPicPr>
          <p:nvPr/>
        </p:nvPicPr>
        <p:blipFill>
          <a:blip r:embed="rId3"/>
          <a:srcRect l="0" r="0" t="0" b="0"/>
          <a:stretch/>
        </p:blipFill>
        <p:spPr>
          <a:xfrm>
            <a:off x="4013200" y="3578861"/>
            <a:ext cx="406400" cy="228600"/>
          </a:xfrm>
          <a:prstGeom prst="rect">
            <a:avLst/>
          </a:prstGeom>
        </p:spPr>
      </p:pic>
      <p:sp>
        <p:nvSpPr>
          <p:cNvPr id="12" name="Shape 7"/>
          <p:cNvSpPr/>
          <p:nvPr/>
        </p:nvSpPr>
        <p:spPr>
          <a:xfrm>
            <a:off x="4581525" y="2592707"/>
            <a:ext cx="3028950" cy="2200910"/>
          </a:xfrm>
          <a:prstGeom prst="roundRect">
            <a:avLst>
              <a:gd name="adj" fmla="val 6492"/>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13" name="Text 8"/>
          <p:cNvSpPr/>
          <p:nvPr/>
        </p:nvSpPr>
        <p:spPr>
          <a:xfrm>
            <a:off x="4825365" y="2836546"/>
            <a:ext cx="438150" cy="438150"/>
          </a:xfrm>
          <a:custGeom>
            <a:avLst/>
            <a:gdLst/>
            <a:ahLst/>
            <a:cxnLst/>
            <a:rect l="l" t="t" r="r" b="b"/>
            <a:pathLst>
              <a:path w="438150" h="438150">
                <a:moveTo>
                  <a:pt x="219075" y="0"/>
                </a:moveTo>
                <a:lnTo>
                  <a:pt x="219075" y="0"/>
                </a:lnTo>
                <a:arcTo hR="219075" wR="219075" stAng="16200000" swAng="5400000"/>
                <a:lnTo>
                  <a:pt x="438150" y="219075"/>
                </a:lnTo>
                <a:arcTo hR="219075" wR="219075" stAng="0" swAng="5400000"/>
                <a:lnTo>
                  <a:pt x="219075" y="438150"/>
                </a:lnTo>
                <a:arcTo hR="219075" wR="219075" stAng="5400000" swAng="5400000"/>
                <a:lnTo>
                  <a:pt x="0" y="219075"/>
                </a:lnTo>
                <a:arcTo hR="219075" wR="219075" stAng="10800000" swAng="5400000"/>
                <a:close/>
              </a:path>
            </a:pathLst>
          </a:custGeom>
          <a:solidFill>
            <a:srgbClr val="C8F560"/>
          </a:solidFill>
          <a:ln w="19050">
            <a:solidFill>
              <a:srgbClr val="0F2A22"/>
            </a:solidFill>
            <a:prstDash val="solid"/>
          </a:ln>
        </p:spPr>
        <p:txBody>
          <a:bodyPr wrap="square" lIns="5715" tIns="5715" rIns="5715" bIns="5715" rtlCol="0" anchor="ctr">
            <a:normAutofit/>
          </a:bodyPr>
          <a:lstStyle/>
          <a:p>
            <a:pPr algn="ctr" indent="0" marL="0">
              <a:lnSpc>
                <a:spcPts val="2520"/>
              </a:lnSpc>
              <a:buNone/>
            </a:pPr>
            <a:r>
              <a:rPr lang="en-US" sz="1800" b="1" dirty="0">
                <a:solidFill>
                  <a:srgbClr val="0F2A22"/>
                </a:solidFill>
                <a:latin typeface="Fredoka" pitchFamily="34" charset="0"/>
                <a:ea typeface="Fredoka" pitchFamily="34" charset="-122"/>
                <a:cs typeface="Fredoka" pitchFamily="34" charset="-120"/>
              </a:rPr>
              <a:t>2</a:t>
            </a:r>
            <a:endParaRPr lang="en-US" sz="1800" dirty="0"/>
          </a:p>
        </p:txBody>
      </p:sp>
      <p:sp>
        <p:nvSpPr>
          <p:cNvPr id="14" name="Text 9"/>
          <p:cNvSpPr/>
          <p:nvPr/>
        </p:nvSpPr>
        <p:spPr>
          <a:xfrm>
            <a:off x="4815840" y="3411221"/>
            <a:ext cx="26371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22"/>
                </a:solidFill>
                <a:latin typeface="Fredoka" pitchFamily="34" charset="0"/>
                <a:ea typeface="Fredoka" pitchFamily="34" charset="-122"/>
                <a:cs typeface="Fredoka" pitchFamily="34" charset="-120"/>
              </a:rPr>
              <a:t>So sánh kịch bản</a:t>
            </a:r>
            <a:endParaRPr lang="en-US" sz="1800" dirty="0"/>
          </a:p>
        </p:txBody>
      </p:sp>
      <p:sp>
        <p:nvSpPr>
          <p:cNvPr id="15" name="Text 10"/>
          <p:cNvSpPr/>
          <p:nvPr/>
        </p:nvSpPr>
        <p:spPr>
          <a:xfrm>
            <a:off x="4815840" y="3812539"/>
            <a:ext cx="263713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F4A41"/>
                </a:solidFill>
                <a:latin typeface="Nunito" pitchFamily="34" charset="0"/>
                <a:ea typeface="Nunito" pitchFamily="34" charset="-122"/>
                <a:cs typeface="Nunito" pitchFamily="34" charset="-120"/>
              </a:rPr>
              <a:t>Xây các kịch bản sinh hoạt để so sánh, đề xuất kế hoạch thử nghiệm trong 7 ngày.</a:t>
            </a:r>
            <a:endParaRPr lang="en-US" sz="1400" dirty="0"/>
          </a:p>
        </p:txBody>
      </p:sp>
      <p:pic>
        <p:nvPicPr>
          <p:cNvPr id="16" name="Image 3" descr="arrow-right">    </p:cNvPr>
          <p:cNvPicPr>
            <a:picLocks noChangeAspect="1"/>
          </p:cNvPicPr>
          <p:nvPr/>
        </p:nvPicPr>
        <p:blipFill>
          <a:blip r:embed="rId4"/>
          <a:srcRect l="0" r="0" t="0" b="0"/>
          <a:stretch/>
        </p:blipFill>
        <p:spPr>
          <a:xfrm>
            <a:off x="7772400" y="3578861"/>
            <a:ext cx="406400" cy="228600"/>
          </a:xfrm>
          <a:prstGeom prst="rect">
            <a:avLst/>
          </a:prstGeom>
        </p:spPr>
      </p:pic>
      <p:sp>
        <p:nvSpPr>
          <p:cNvPr id="17" name="Shape 11"/>
          <p:cNvSpPr/>
          <p:nvPr/>
        </p:nvSpPr>
        <p:spPr>
          <a:xfrm>
            <a:off x="8340725" y="2592707"/>
            <a:ext cx="3028950" cy="2200910"/>
          </a:xfrm>
          <a:prstGeom prst="roundRect">
            <a:avLst>
              <a:gd name="adj" fmla="val 6492"/>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18" name="Text 12"/>
          <p:cNvSpPr/>
          <p:nvPr/>
        </p:nvSpPr>
        <p:spPr>
          <a:xfrm>
            <a:off x="8584565" y="2836546"/>
            <a:ext cx="438150" cy="438150"/>
          </a:xfrm>
          <a:custGeom>
            <a:avLst/>
            <a:gdLst/>
            <a:ahLst/>
            <a:cxnLst/>
            <a:rect l="l" t="t" r="r" b="b"/>
            <a:pathLst>
              <a:path w="438150" h="438150">
                <a:moveTo>
                  <a:pt x="219075" y="0"/>
                </a:moveTo>
                <a:lnTo>
                  <a:pt x="219075" y="0"/>
                </a:lnTo>
                <a:arcTo hR="219075" wR="219075" stAng="16200000" swAng="5400000"/>
                <a:lnTo>
                  <a:pt x="438150" y="219075"/>
                </a:lnTo>
                <a:arcTo hR="219075" wR="219075" stAng="0" swAng="5400000"/>
                <a:lnTo>
                  <a:pt x="219075" y="438150"/>
                </a:lnTo>
                <a:arcTo hR="219075" wR="219075" stAng="5400000" swAng="5400000"/>
                <a:lnTo>
                  <a:pt x="0" y="219075"/>
                </a:lnTo>
                <a:arcTo hR="219075" wR="219075" stAng="10800000" swAng="5400000"/>
                <a:close/>
              </a:path>
            </a:pathLst>
          </a:custGeom>
          <a:solidFill>
            <a:srgbClr val="C8F560"/>
          </a:solidFill>
          <a:ln w="19050">
            <a:solidFill>
              <a:srgbClr val="0F2A22"/>
            </a:solidFill>
            <a:prstDash val="solid"/>
          </a:ln>
        </p:spPr>
        <p:txBody>
          <a:bodyPr wrap="square" lIns="5715" tIns="5715" rIns="5715" bIns="5715" rtlCol="0" anchor="ctr">
            <a:normAutofit/>
          </a:bodyPr>
          <a:lstStyle/>
          <a:p>
            <a:pPr algn="ctr" indent="0" marL="0">
              <a:lnSpc>
                <a:spcPts val="2520"/>
              </a:lnSpc>
              <a:buNone/>
            </a:pPr>
            <a:r>
              <a:rPr lang="en-US" sz="1800" b="1" dirty="0">
                <a:solidFill>
                  <a:srgbClr val="0F2A22"/>
                </a:solidFill>
                <a:latin typeface="Fredoka" pitchFamily="34" charset="0"/>
                <a:ea typeface="Fredoka" pitchFamily="34" charset="-122"/>
                <a:cs typeface="Fredoka" pitchFamily="34" charset="-120"/>
              </a:rPr>
              <a:t>3</a:t>
            </a:r>
            <a:endParaRPr lang="en-US" sz="1800" dirty="0"/>
          </a:p>
        </p:txBody>
      </p:sp>
      <p:sp>
        <p:nvSpPr>
          <p:cNvPr id="19" name="Text 13"/>
          <p:cNvSpPr/>
          <p:nvPr/>
        </p:nvSpPr>
        <p:spPr>
          <a:xfrm>
            <a:off x="8575040" y="3411221"/>
            <a:ext cx="26371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22"/>
                </a:solidFill>
                <a:latin typeface="Fredoka" pitchFamily="34" charset="0"/>
                <a:ea typeface="Fredoka" pitchFamily="34" charset="-122"/>
                <a:cs typeface="Fredoka" pitchFamily="34" charset="-120"/>
              </a:rPr>
              <a:t>Chấm bằng dữ liệu thật</a:t>
            </a:r>
            <a:endParaRPr lang="en-US" sz="1800" dirty="0"/>
          </a:p>
        </p:txBody>
      </p:sp>
      <p:sp>
        <p:nvSpPr>
          <p:cNvPr id="20" name="Text 14"/>
          <p:cNvSpPr/>
          <p:nvPr/>
        </p:nvSpPr>
        <p:spPr>
          <a:xfrm>
            <a:off x="8575040" y="3812539"/>
            <a:ext cx="263713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F4A41"/>
                </a:solidFill>
                <a:latin typeface="Nunito" pitchFamily="34" charset="0"/>
                <a:ea typeface="Nunito" pitchFamily="34" charset="-122"/>
                <a:cs typeface="Nunito" pitchFamily="34" charset="-120"/>
              </a:rPr>
              <a:t>Đánh giá kết quả bằng dữ liệu thực tế sau khi thử, không dự đoán y khoa thiếu căn cứ.</a:t>
            </a:r>
            <a:endParaRPr lang="en-US" sz="1400" dirty="0"/>
          </a:p>
        </p:txBody>
      </p:sp>
      <p:sp>
        <p:nvSpPr>
          <p:cNvPr id="21" name="Text 15"/>
          <p:cNvSpPr/>
          <p:nvPr/>
        </p:nvSpPr>
        <p:spPr>
          <a:xfrm>
            <a:off x="495808" y="6238239"/>
            <a:ext cx="1088339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F4A41"/>
                </a:solidFill>
                <a:latin typeface="Nunito" pitchFamily="34" charset="0"/>
                <a:ea typeface="Nunito" pitchFamily="34" charset="-122"/>
                <a:cs typeface="Nunito" pitchFamily="34" charset="-120"/>
              </a:rPr>
              <a:t>Nhóm 6 | 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BE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0363200" y="812800"/>
            <a:ext cx="1016000" cy="1016000"/>
          </a:xfrm>
          <a:prstGeom prst="rect">
            <a:avLst/>
          </a:prstGeom>
        </p:spPr>
      </p:pic>
      <p:pic>
        <p:nvPicPr>
          <p:cNvPr id="3" name="Image 1" descr="Lightning">    </p:cNvPr>
          <p:cNvPicPr>
            <a:picLocks noChangeAspect="1"/>
          </p:cNvPicPr>
          <p:nvPr/>
        </p:nvPicPr>
        <p:blipFill>
          <a:blip r:embed="rId2"/>
          <a:srcRect l="0" r="0" t="0" b="0"/>
          <a:stretch/>
        </p:blipFill>
        <p:spPr>
          <a:xfrm>
            <a:off x="10591800" y="1041400"/>
            <a:ext cx="558800" cy="558800"/>
          </a:xfrm>
          <a:prstGeom prst="rect">
            <a:avLst/>
          </a:prstGeom>
        </p:spPr>
      </p:pic>
      <p:sp>
        <p:nvSpPr>
          <p:cNvPr id="4" name="Text 0"/>
          <p:cNvSpPr/>
          <p:nvPr/>
        </p:nvSpPr>
        <p:spPr>
          <a:xfrm rot="21480000">
            <a:off x="822166" y="822326"/>
            <a:ext cx="1257300" cy="336550"/>
          </a:xfrm>
          <a:custGeom>
            <a:avLst/>
            <a:gdLst/>
            <a:ahLst/>
            <a:cxnLst/>
            <a:rect l="l" t="t" r="r" b="b"/>
            <a:pathLst>
              <a:path w="1257300" h="336550">
                <a:moveTo>
                  <a:pt x="168275" y="0"/>
                </a:moveTo>
                <a:lnTo>
                  <a:pt x="1089025" y="0"/>
                </a:lnTo>
                <a:arcTo hR="168275" wR="168275" stAng="16200000" swAng="5400000"/>
                <a:lnTo>
                  <a:pt x="1257300" y="168275"/>
                </a:lnTo>
                <a:arcTo hR="168275" wR="168275" stAng="0" swAng="5400000"/>
                <a:lnTo>
                  <a:pt x="168275" y="336550"/>
                </a:lnTo>
                <a:arcTo hR="168275" wR="168275" stAng="5400000" swAng="5400000"/>
                <a:lnTo>
                  <a:pt x="0" y="168275"/>
                </a:lnTo>
                <a:arcTo hR="168275" wR="168275" stAng="10800000" swAng="5400000"/>
                <a:close/>
              </a:path>
            </a:pathLst>
          </a:custGeom>
          <a:solidFill>
            <a:srgbClr val="C8F560"/>
          </a:solidFill>
          <a:ln w="19050">
            <a:solidFill>
              <a:srgbClr val="0F2A22"/>
            </a:solidFill>
            <a:prstDash val="solid"/>
          </a:ln>
        </p:spPr>
        <p:txBody>
          <a:bodyPr wrap="none" lIns="0" tIns="0" rIns="0" bIns="0" rtlCol="0" anchor="ctr">
            <a:normAutofit/>
          </a:bodyPr>
          <a:lstStyle/>
          <a:p>
            <a:pPr algn="ctr" indent="0" marL="0">
              <a:lnSpc>
                <a:spcPts val="1960"/>
              </a:lnSpc>
              <a:buNone/>
            </a:pPr>
            <a:r>
              <a:rPr lang="en-US" sz="1400" b="1" dirty="0">
                <a:solidFill>
                  <a:srgbClr val="0F2A22"/>
                </a:solidFill>
                <a:latin typeface="Nunito" pitchFamily="34" charset="0"/>
                <a:ea typeface="Nunito" pitchFamily="34" charset="-122"/>
                <a:cs typeface="Nunito" pitchFamily="34" charset="-120"/>
              </a:rPr>
              <a:t>Xịn mà nhẹ</a:t>
            </a:r>
            <a:endParaRPr lang="en-US" sz="1400" dirty="0"/>
          </a:p>
        </p:txBody>
      </p:sp>
      <p:sp>
        <p:nvSpPr>
          <p:cNvPr id="5" name="Text 1"/>
          <p:cNvSpPr/>
          <p:nvPr>
            <p:ph type="title"/>
          </p:nvPr>
        </p:nvSpPr>
        <p:spPr>
          <a:xfrm>
            <a:off x="812800" y="1270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A22"/>
                </a:solidFill>
                <a:latin typeface="Fredoka" pitchFamily="34" charset="0"/>
                <a:ea typeface="Fredoka" pitchFamily="34" charset="-122"/>
                <a:cs typeface="Fredoka" pitchFamily="34" charset="-120"/>
              </a:rPr>
              <a:t>Yêu cầu phi chức năng</a:t>
            </a:r>
            <a:endParaRPr lang="en-US" sz="3600" dirty="0"/>
          </a:p>
        </p:txBody>
      </p:sp>
      <p:sp>
        <p:nvSpPr>
          <p:cNvPr id="6" name="Shape 2"/>
          <p:cNvSpPr/>
          <p:nvPr/>
        </p:nvSpPr>
        <p:spPr>
          <a:xfrm>
            <a:off x="822325" y="2036446"/>
            <a:ext cx="1972310" cy="1631950"/>
          </a:xfrm>
          <a:prstGeom prst="roundRect">
            <a:avLst>
              <a:gd name="adj" fmla="val 8755"/>
            </a:avLst>
          </a:prstGeom>
          <a:solidFill>
            <a:srgbClr val="FFFFFF"/>
          </a:solidFill>
          <a:ln w="19050">
            <a:solidFill>
              <a:srgbClr val="0F2A22"/>
            </a:solidFill>
            <a:prstDash val="solid"/>
          </a:ln>
          <a:effectLst>
            <a:outerShdw sx="100000" sy="100000" kx="0" ky="0" algn="bl" rotWithShape="0" blurRad="0" dist="53882" dir="2700000">
              <a:srgbClr val="0F2A22">
                <a:alpha val="100000"/>
              </a:srgbClr>
            </a:outerShdw>
          </a:effectLst>
        </p:spPr>
      </p:sp>
      <p:pic>
        <p:nvPicPr>
          <p:cNvPr id="7" name="Image 2" descr="Star">    </p:cNvPr>
          <p:cNvPicPr>
            <a:picLocks noChangeAspect="1"/>
          </p:cNvPicPr>
          <p:nvPr/>
        </p:nvPicPr>
        <p:blipFill>
          <a:blip r:embed="rId3"/>
          <a:srcRect l="0" r="0" t="0" b="0"/>
          <a:stretch/>
        </p:blipFill>
        <p:spPr>
          <a:xfrm>
            <a:off x="980440" y="2219961"/>
            <a:ext cx="355600" cy="355600"/>
          </a:xfrm>
          <a:prstGeom prst="rect">
            <a:avLst/>
          </a:prstGeom>
        </p:spPr>
      </p:pic>
      <p:sp>
        <p:nvSpPr>
          <p:cNvPr id="8" name="Text 3"/>
          <p:cNvSpPr/>
          <p:nvPr/>
        </p:nvSpPr>
        <p:spPr>
          <a:xfrm>
            <a:off x="980440" y="2677161"/>
            <a:ext cx="1706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22"/>
                </a:solidFill>
                <a:latin typeface="Fredoka" pitchFamily="34" charset="0"/>
                <a:ea typeface="Fredoka" pitchFamily="34" charset="-122"/>
                <a:cs typeface="Fredoka" pitchFamily="34" charset="-120"/>
              </a:rPr>
              <a:t>Giao diện đẹp</a:t>
            </a:r>
            <a:endParaRPr lang="en-US" sz="1600" dirty="0"/>
          </a:p>
        </p:txBody>
      </p:sp>
      <p:sp>
        <p:nvSpPr>
          <p:cNvPr id="9" name="Text 4"/>
          <p:cNvSpPr/>
          <p:nvPr/>
        </p:nvSpPr>
        <p:spPr>
          <a:xfrm>
            <a:off x="980440" y="3022600"/>
            <a:ext cx="17068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F4A41"/>
                </a:solidFill>
                <a:latin typeface="Nunito" pitchFamily="34" charset="0"/>
                <a:ea typeface="Nunito" pitchFamily="34" charset="-122"/>
                <a:cs typeface="Nunito" pitchFamily="34" charset="-120"/>
              </a:rPr>
              <a:t>Xanh lá, trắng, xanh dương nhạt.</a:t>
            </a:r>
            <a:endParaRPr lang="en-US" sz="1300" dirty="0"/>
          </a:p>
        </p:txBody>
      </p:sp>
      <p:sp>
        <p:nvSpPr>
          <p:cNvPr id="10" name="Shape 5"/>
          <p:cNvSpPr/>
          <p:nvPr/>
        </p:nvSpPr>
        <p:spPr>
          <a:xfrm>
            <a:off x="2966085" y="2036446"/>
            <a:ext cx="1972310" cy="1631950"/>
          </a:xfrm>
          <a:prstGeom prst="roundRect">
            <a:avLst>
              <a:gd name="adj" fmla="val 8755"/>
            </a:avLst>
          </a:prstGeom>
          <a:solidFill>
            <a:srgbClr val="FFFFFF"/>
          </a:solidFill>
          <a:ln w="19050">
            <a:solidFill>
              <a:srgbClr val="0F2A22"/>
            </a:solidFill>
            <a:prstDash val="solid"/>
          </a:ln>
          <a:effectLst>
            <a:outerShdw sx="100000" sy="100000" kx="0" ky="0" algn="bl" rotWithShape="0" blurRad="0" dist="53882" dir="2700000">
              <a:srgbClr val="0F2A22">
                <a:alpha val="100000"/>
              </a:srgbClr>
            </a:outerShdw>
          </a:effectLst>
        </p:spPr>
      </p:sp>
      <p:pic>
        <p:nvPicPr>
          <p:cNvPr id="11" name="Image 3" descr="Check">    </p:cNvPr>
          <p:cNvPicPr>
            <a:picLocks noChangeAspect="1"/>
          </p:cNvPicPr>
          <p:nvPr/>
        </p:nvPicPr>
        <p:blipFill>
          <a:blip r:embed="rId4"/>
          <a:srcRect l="0" r="0" t="0" b="0"/>
          <a:stretch/>
        </p:blipFill>
        <p:spPr>
          <a:xfrm>
            <a:off x="3124200" y="2219961"/>
            <a:ext cx="355600" cy="355600"/>
          </a:xfrm>
          <a:prstGeom prst="rect">
            <a:avLst/>
          </a:prstGeom>
        </p:spPr>
      </p:pic>
      <p:sp>
        <p:nvSpPr>
          <p:cNvPr id="12" name="Text 6"/>
          <p:cNvSpPr/>
          <p:nvPr/>
        </p:nvSpPr>
        <p:spPr>
          <a:xfrm>
            <a:off x="3124200" y="2677161"/>
            <a:ext cx="1706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22"/>
                </a:solidFill>
                <a:latin typeface="Fredoka" pitchFamily="34" charset="0"/>
                <a:ea typeface="Fredoka" pitchFamily="34" charset="-122"/>
                <a:cs typeface="Fredoka" pitchFamily="34" charset="-120"/>
              </a:rPr>
              <a:t>Tối giản</a:t>
            </a:r>
            <a:endParaRPr lang="en-US" sz="1600" dirty="0"/>
          </a:p>
        </p:txBody>
      </p:sp>
      <p:sp>
        <p:nvSpPr>
          <p:cNvPr id="13" name="Text 7"/>
          <p:cNvSpPr/>
          <p:nvPr/>
        </p:nvSpPr>
        <p:spPr>
          <a:xfrm>
            <a:off x="3124200" y="3022600"/>
            <a:ext cx="170688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F4A41"/>
                </a:solidFill>
                <a:latin typeface="Nunito" pitchFamily="34" charset="0"/>
                <a:ea typeface="Nunito" pitchFamily="34" charset="-122"/>
                <a:cs typeface="Nunito" pitchFamily="34" charset="-120"/>
              </a:rPr>
              <a:t>Gọn gàng, dễ dùng.</a:t>
            </a:r>
            <a:endParaRPr lang="en-US" sz="1300" dirty="0"/>
          </a:p>
        </p:txBody>
      </p:sp>
      <p:sp>
        <p:nvSpPr>
          <p:cNvPr id="14" name="Shape 8"/>
          <p:cNvSpPr/>
          <p:nvPr/>
        </p:nvSpPr>
        <p:spPr>
          <a:xfrm>
            <a:off x="5109845" y="2036446"/>
            <a:ext cx="1972310" cy="1631950"/>
          </a:xfrm>
          <a:prstGeom prst="roundRect">
            <a:avLst>
              <a:gd name="adj" fmla="val 8755"/>
            </a:avLst>
          </a:prstGeom>
          <a:solidFill>
            <a:srgbClr val="FFFFFF"/>
          </a:solidFill>
          <a:ln w="19050">
            <a:solidFill>
              <a:srgbClr val="0F2A22"/>
            </a:solidFill>
            <a:prstDash val="solid"/>
          </a:ln>
          <a:effectLst>
            <a:outerShdw sx="100000" sy="100000" kx="0" ky="0" algn="bl" rotWithShape="0" blurRad="0" dist="53882" dir="2700000">
              <a:srgbClr val="0F2A22">
                <a:alpha val="100000"/>
              </a:srgbClr>
            </a:outerShdw>
          </a:effectLst>
        </p:spPr>
      </p:sp>
      <p:pic>
        <p:nvPicPr>
          <p:cNvPr id="15" name="Image 4" descr="Lock">    </p:cNvPr>
          <p:cNvPicPr>
            <a:picLocks noChangeAspect="1"/>
          </p:cNvPicPr>
          <p:nvPr/>
        </p:nvPicPr>
        <p:blipFill>
          <a:blip r:embed="rId5"/>
          <a:srcRect l="0" r="0" t="0" b="0"/>
          <a:stretch/>
        </p:blipFill>
        <p:spPr>
          <a:xfrm>
            <a:off x="5267960" y="2219961"/>
            <a:ext cx="355600" cy="355600"/>
          </a:xfrm>
          <a:prstGeom prst="rect">
            <a:avLst/>
          </a:prstGeom>
        </p:spPr>
      </p:pic>
      <p:sp>
        <p:nvSpPr>
          <p:cNvPr id="16" name="Text 9"/>
          <p:cNvSpPr/>
          <p:nvPr/>
        </p:nvSpPr>
        <p:spPr>
          <a:xfrm>
            <a:off x="5267960" y="2677161"/>
            <a:ext cx="1706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22"/>
                </a:solidFill>
                <a:latin typeface="Fredoka" pitchFamily="34" charset="0"/>
                <a:ea typeface="Fredoka" pitchFamily="34" charset="-122"/>
                <a:cs typeface="Fredoka" pitchFamily="34" charset="-120"/>
              </a:rPr>
              <a:t>Bảo mật</a:t>
            </a:r>
            <a:endParaRPr lang="en-US" sz="1600" dirty="0"/>
          </a:p>
        </p:txBody>
      </p:sp>
      <p:sp>
        <p:nvSpPr>
          <p:cNvPr id="17" name="Text 10"/>
          <p:cNvSpPr/>
          <p:nvPr/>
        </p:nvSpPr>
        <p:spPr>
          <a:xfrm>
            <a:off x="5267960" y="3022600"/>
            <a:ext cx="17068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F4A41"/>
                </a:solidFill>
                <a:latin typeface="Nunito" pitchFamily="34" charset="0"/>
                <a:ea typeface="Nunito" pitchFamily="34" charset="-122"/>
                <a:cs typeface="Nunito" pitchFamily="34" charset="-120"/>
              </a:rPr>
              <a:t>Dữ liệu của bạn, bạn kiểm soát.</a:t>
            </a:r>
            <a:endParaRPr lang="en-US" sz="1300" dirty="0"/>
          </a:p>
        </p:txBody>
      </p:sp>
      <p:sp>
        <p:nvSpPr>
          <p:cNvPr id="18" name="Shape 11"/>
          <p:cNvSpPr/>
          <p:nvPr/>
        </p:nvSpPr>
        <p:spPr>
          <a:xfrm>
            <a:off x="7253605" y="2036446"/>
            <a:ext cx="1972310" cy="1631950"/>
          </a:xfrm>
          <a:prstGeom prst="roundRect">
            <a:avLst>
              <a:gd name="adj" fmla="val 8755"/>
            </a:avLst>
          </a:prstGeom>
          <a:solidFill>
            <a:srgbClr val="FFFFFF"/>
          </a:solidFill>
          <a:ln w="19050">
            <a:solidFill>
              <a:srgbClr val="0F2A22"/>
            </a:solidFill>
            <a:prstDash val="solid"/>
          </a:ln>
          <a:effectLst>
            <a:outerShdw sx="100000" sy="100000" kx="0" ky="0" algn="bl" rotWithShape="0" blurRad="0" dist="53882" dir="2700000">
              <a:srgbClr val="0F2A22">
                <a:alpha val="100000"/>
              </a:srgbClr>
            </a:outerShdw>
          </a:effectLst>
        </p:spPr>
      </p:sp>
      <p:pic>
        <p:nvPicPr>
          <p:cNvPr id="19" name="Image 5" descr="Lightning">    </p:cNvPr>
          <p:cNvPicPr>
            <a:picLocks noChangeAspect="1"/>
          </p:cNvPicPr>
          <p:nvPr/>
        </p:nvPicPr>
        <p:blipFill>
          <a:blip r:embed="rId6"/>
          <a:srcRect l="0" r="0" t="0" b="0"/>
          <a:stretch/>
        </p:blipFill>
        <p:spPr>
          <a:xfrm>
            <a:off x="7411720" y="2219961"/>
            <a:ext cx="355600" cy="355600"/>
          </a:xfrm>
          <a:prstGeom prst="rect">
            <a:avLst/>
          </a:prstGeom>
        </p:spPr>
      </p:pic>
      <p:sp>
        <p:nvSpPr>
          <p:cNvPr id="20" name="Text 12"/>
          <p:cNvSpPr/>
          <p:nvPr/>
        </p:nvSpPr>
        <p:spPr>
          <a:xfrm>
            <a:off x="7411720" y="2677161"/>
            <a:ext cx="1706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22"/>
                </a:solidFill>
                <a:latin typeface="Fredoka" pitchFamily="34" charset="0"/>
                <a:ea typeface="Fredoka" pitchFamily="34" charset="-122"/>
                <a:cs typeface="Fredoka" pitchFamily="34" charset="-120"/>
              </a:rPr>
              <a:t>Hiệu năng</a:t>
            </a:r>
            <a:endParaRPr lang="en-US" sz="1600" dirty="0"/>
          </a:p>
        </p:txBody>
      </p:sp>
      <p:sp>
        <p:nvSpPr>
          <p:cNvPr id="21" name="Text 13"/>
          <p:cNvSpPr/>
          <p:nvPr/>
        </p:nvSpPr>
        <p:spPr>
          <a:xfrm>
            <a:off x="7411720" y="3022600"/>
            <a:ext cx="17068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F4A41"/>
                </a:solidFill>
                <a:latin typeface="Nunito" pitchFamily="34" charset="0"/>
                <a:ea typeface="Nunito" pitchFamily="34" charset="-122"/>
                <a:cs typeface="Nunito" pitchFamily="34" charset="-120"/>
              </a:rPr>
              <a:t>Tải nhanh, thống kê chính xác.</a:t>
            </a:r>
            <a:endParaRPr lang="en-US" sz="1300" dirty="0"/>
          </a:p>
        </p:txBody>
      </p:sp>
      <p:sp>
        <p:nvSpPr>
          <p:cNvPr id="22" name="Shape 14"/>
          <p:cNvSpPr/>
          <p:nvPr/>
        </p:nvSpPr>
        <p:spPr>
          <a:xfrm>
            <a:off x="9397365" y="2036446"/>
            <a:ext cx="1972310" cy="1631950"/>
          </a:xfrm>
          <a:prstGeom prst="roundRect">
            <a:avLst>
              <a:gd name="adj" fmla="val 8755"/>
            </a:avLst>
          </a:prstGeom>
          <a:solidFill>
            <a:srgbClr val="FFFFFF"/>
          </a:solidFill>
          <a:ln w="19050">
            <a:solidFill>
              <a:srgbClr val="0F2A22"/>
            </a:solidFill>
            <a:prstDash val="solid"/>
          </a:ln>
          <a:effectLst>
            <a:outerShdw sx="100000" sy="100000" kx="0" ky="0" algn="bl" rotWithShape="0" blurRad="0" dist="53882" dir="2700000">
              <a:srgbClr val="0F2A22">
                <a:alpha val="100000"/>
              </a:srgbClr>
            </a:outerShdw>
          </a:effectLst>
        </p:spPr>
      </p:sp>
      <p:pic>
        <p:nvPicPr>
          <p:cNvPr id="23" name="Image 6" descr="Globe">    </p:cNvPr>
          <p:cNvPicPr>
            <a:picLocks noChangeAspect="1"/>
          </p:cNvPicPr>
          <p:nvPr/>
        </p:nvPicPr>
        <p:blipFill>
          <a:blip r:embed="rId7"/>
          <a:srcRect l="0" r="0" t="0" b="0"/>
          <a:stretch/>
        </p:blipFill>
        <p:spPr>
          <a:xfrm>
            <a:off x="9555480" y="2219961"/>
            <a:ext cx="355600" cy="355600"/>
          </a:xfrm>
          <a:prstGeom prst="rect">
            <a:avLst/>
          </a:prstGeom>
        </p:spPr>
      </p:pic>
      <p:sp>
        <p:nvSpPr>
          <p:cNvPr id="24" name="Text 15"/>
          <p:cNvSpPr/>
          <p:nvPr/>
        </p:nvSpPr>
        <p:spPr>
          <a:xfrm>
            <a:off x="9555480" y="2677161"/>
            <a:ext cx="17068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F2A22"/>
                </a:solidFill>
                <a:latin typeface="Fredoka" pitchFamily="34" charset="0"/>
                <a:ea typeface="Fredoka" pitchFamily="34" charset="-122"/>
                <a:cs typeface="Fredoka" pitchFamily="34" charset="-120"/>
              </a:rPr>
              <a:t>Tương thích</a:t>
            </a:r>
            <a:endParaRPr lang="en-US" sz="1600" dirty="0"/>
          </a:p>
        </p:txBody>
      </p:sp>
      <p:sp>
        <p:nvSpPr>
          <p:cNvPr id="25" name="Text 16"/>
          <p:cNvSpPr/>
          <p:nvPr/>
        </p:nvSpPr>
        <p:spPr>
          <a:xfrm>
            <a:off x="9555480" y="3022600"/>
            <a:ext cx="17068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F4A41"/>
                </a:solidFill>
                <a:latin typeface="Nunito" pitchFamily="34" charset="0"/>
                <a:ea typeface="Nunito" pitchFamily="34" charset="-122"/>
                <a:cs typeface="Nunito" pitchFamily="34" charset="-120"/>
              </a:rPr>
              <a:t>Điện thoại và máy tính.</a:t>
            </a:r>
            <a:endParaRPr lang="en-US" sz="1300" dirty="0"/>
          </a:p>
        </p:txBody>
      </p:sp>
      <p:sp>
        <p:nvSpPr>
          <p:cNvPr id="26" name="Text 17"/>
          <p:cNvSpPr/>
          <p:nvPr/>
        </p:nvSpPr>
        <p:spPr>
          <a:xfrm>
            <a:off x="822325" y="3941446"/>
            <a:ext cx="3401457" cy="565150"/>
          </a:xfrm>
          <a:prstGeom prst="roundRect">
            <a:avLst>
              <a:gd name="adj" fmla="val 50000"/>
            </a:avLst>
          </a:prstGeom>
          <a:solidFill>
            <a:srgbClr val="3DDC84"/>
          </a:solidFill>
          <a:ln w="19050">
            <a:solidFill>
              <a:srgbClr val="0F2A22"/>
            </a:solidFill>
            <a:prstDash val="solid"/>
          </a:ln>
        </p:spPr>
        <p:txBody>
          <a:bodyPr wrap="square" lIns="29073" tIns="75352" rIns="29073" bIns="49952" rtlCol="0" anchor="t">
            <a:normAutofit/>
          </a:bodyPr>
          <a:lstStyle/>
          <a:p>
            <a:pPr algn="ctr" indent="0" marL="0">
              <a:lnSpc>
                <a:spcPts val="1960"/>
              </a:lnSpc>
              <a:buNone/>
            </a:pPr>
            <a:r>
              <a:rPr lang="en-US" sz="1400" b="1" dirty="0">
                <a:solidFill>
                  <a:srgbClr val="0F2A22"/>
                </a:solidFill>
                <a:latin typeface="Nunito" pitchFamily="34" charset="0"/>
                <a:ea typeface="Nunito" pitchFamily="34" charset="-122"/>
                <a:cs typeface="Nunito" pitchFamily="34" charset="-120"/>
              </a:rPr>
              <a:t>Xanh lá</a:t>
            </a:r>
            <a:endParaRPr lang="en-US" sz="1400" dirty="0"/>
          </a:p>
        </p:txBody>
      </p:sp>
      <p:sp>
        <p:nvSpPr>
          <p:cNvPr id="27" name="Text 18"/>
          <p:cNvSpPr/>
          <p:nvPr/>
        </p:nvSpPr>
        <p:spPr>
          <a:xfrm>
            <a:off x="4395232" y="3941446"/>
            <a:ext cx="3401536" cy="565150"/>
          </a:xfrm>
          <a:prstGeom prst="roundRect">
            <a:avLst>
              <a:gd name="adj" fmla="val 50000"/>
            </a:avLst>
          </a:prstGeom>
          <a:solidFill>
            <a:srgbClr val="FFFFFF"/>
          </a:solidFill>
          <a:ln w="19050">
            <a:solidFill>
              <a:srgbClr val="0F2A22"/>
            </a:solidFill>
            <a:prstDash val="solid"/>
          </a:ln>
        </p:spPr>
        <p:txBody>
          <a:bodyPr wrap="square" lIns="29072" tIns="75352" rIns="29072" bIns="49952" rtlCol="0" anchor="t">
            <a:normAutofit/>
          </a:bodyPr>
          <a:lstStyle/>
          <a:p>
            <a:pPr algn="ctr" indent="0" marL="0">
              <a:lnSpc>
                <a:spcPts val="1960"/>
              </a:lnSpc>
              <a:buNone/>
            </a:pPr>
            <a:r>
              <a:rPr lang="en-US" sz="1400" b="1" dirty="0">
                <a:solidFill>
                  <a:srgbClr val="0F2A22"/>
                </a:solidFill>
                <a:latin typeface="Nunito" pitchFamily="34" charset="0"/>
                <a:ea typeface="Nunito" pitchFamily="34" charset="-122"/>
                <a:cs typeface="Nunito" pitchFamily="34" charset="-120"/>
              </a:rPr>
              <a:t>Trắng</a:t>
            </a:r>
            <a:endParaRPr lang="en-US" sz="1400" dirty="0"/>
          </a:p>
        </p:txBody>
      </p:sp>
      <p:sp>
        <p:nvSpPr>
          <p:cNvPr id="28" name="Text 19"/>
          <p:cNvSpPr/>
          <p:nvPr/>
        </p:nvSpPr>
        <p:spPr>
          <a:xfrm>
            <a:off x="7968218" y="3941446"/>
            <a:ext cx="3401457" cy="565150"/>
          </a:xfrm>
          <a:prstGeom prst="roundRect">
            <a:avLst>
              <a:gd name="adj" fmla="val 50000"/>
            </a:avLst>
          </a:prstGeom>
          <a:solidFill>
            <a:srgbClr val="8ED1FF"/>
          </a:solidFill>
          <a:ln w="19050">
            <a:solidFill>
              <a:srgbClr val="0F2A22"/>
            </a:solidFill>
            <a:prstDash val="solid"/>
          </a:ln>
        </p:spPr>
        <p:txBody>
          <a:bodyPr wrap="square" lIns="29073" tIns="75352" rIns="29073" bIns="49952" rtlCol="0" anchor="t">
            <a:normAutofit/>
          </a:bodyPr>
          <a:lstStyle/>
          <a:p>
            <a:pPr algn="ctr" indent="0" marL="0">
              <a:lnSpc>
                <a:spcPts val="1960"/>
              </a:lnSpc>
              <a:buNone/>
            </a:pPr>
            <a:r>
              <a:rPr lang="en-US" sz="1400" b="1" dirty="0">
                <a:solidFill>
                  <a:srgbClr val="0F2A22"/>
                </a:solidFill>
                <a:latin typeface="Nunito" pitchFamily="34" charset="0"/>
                <a:ea typeface="Nunito" pitchFamily="34" charset="-122"/>
                <a:cs typeface="Nunito" pitchFamily="34" charset="-120"/>
              </a:rPr>
              <a:t>Xanh dương nhạt</a:t>
            </a:r>
            <a:endParaRPr lang="en-US" sz="1400" dirty="0"/>
          </a:p>
        </p:txBody>
      </p:sp>
      <p:sp>
        <p:nvSpPr>
          <p:cNvPr id="29" name="Text 20"/>
          <p:cNvSpPr/>
          <p:nvPr/>
        </p:nvSpPr>
        <p:spPr>
          <a:xfrm>
            <a:off x="495808" y="6238239"/>
            <a:ext cx="1088339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F4A41"/>
                </a:solidFill>
                <a:latin typeface="Nunito" pitchFamily="34" charset="0"/>
                <a:ea typeface="Nunito" pitchFamily="34" charset="-122"/>
                <a:cs typeface="Nunito" pitchFamily="34" charset="-120"/>
              </a:rPr>
              <a:t>Nhóm 6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A22"/>
        </a:solidFill>
      </p:bgPr>
    </p:bg>
    <p:spTree>
      <p:nvGrpSpPr>
        <p:cNvPr id="1" name=""/>
        <p:cNvGrpSpPr/>
        <p:nvPr/>
      </p:nvGrpSpPr>
      <p:grpSpPr>
        <a:xfrm>
          <a:off x="0" y="0"/>
          <a:ext cx="0" cy="0"/>
          <a:chOff x="0" y="0"/>
          <a:chExt cx="0" cy="0"/>
        </a:xfrm>
      </p:grpSpPr>
      <p:sp>
        <p:nvSpPr>
          <p:cNvPr id="2" name="Text 0"/>
          <p:cNvSpPr/>
          <p:nvPr/>
        </p:nvSpPr>
        <p:spPr>
          <a:xfrm rot="21480000">
            <a:off x="811252" y="813435"/>
            <a:ext cx="1892300" cy="323850"/>
          </a:xfrm>
          <a:custGeom>
            <a:avLst/>
            <a:gdLst/>
            <a:ahLst/>
            <a:cxnLst/>
            <a:rect l="l" t="t" r="r" b="b"/>
            <a:pathLst>
              <a:path w="1892300" h="323850">
                <a:moveTo>
                  <a:pt x="161925" y="0"/>
                </a:moveTo>
                <a:lnTo>
                  <a:pt x="1730375" y="0"/>
                </a:lnTo>
                <a:arcTo hR="161925" wR="161925" stAng="16200000" swAng="5400000"/>
                <a:lnTo>
                  <a:pt x="1892300" y="161925"/>
                </a:lnTo>
                <a:arcTo hR="161925" wR="161925" stAng="0" swAng="5400000"/>
                <a:lnTo>
                  <a:pt x="161925" y="323850"/>
                </a:lnTo>
                <a:arcTo hR="161925" wR="161925" stAng="5400000" swAng="5400000"/>
                <a:lnTo>
                  <a:pt x="0" y="161925"/>
                </a:lnTo>
                <a:arcTo hR="161925" wR="161925" stAng="10800000" swAng="5400000"/>
                <a:close/>
              </a:path>
            </a:pathLst>
          </a:custGeom>
          <a:solidFill>
            <a:srgbClr val="C8F560"/>
          </a:solidFill>
          <a:ln/>
        </p:spPr>
        <p:txBody>
          <a:bodyPr wrap="none" lIns="0" tIns="0" rIns="0" bIns="0" rtlCol="0" anchor="ctr">
            <a:normAutofit/>
          </a:bodyPr>
          <a:lstStyle/>
          <a:p>
            <a:pPr algn="ctr" indent="0" marL="0">
              <a:lnSpc>
                <a:spcPts val="1960"/>
              </a:lnSpc>
              <a:buNone/>
            </a:pPr>
            <a:r>
              <a:rPr lang="en-US" sz="1400" b="1" dirty="0">
                <a:solidFill>
                  <a:srgbClr val="0F2A22"/>
                </a:solidFill>
                <a:latin typeface="Nunito" pitchFamily="34" charset="0"/>
                <a:ea typeface="Nunito" pitchFamily="34" charset="-122"/>
                <a:cs typeface="Nunito" pitchFamily="34" charset="-120"/>
              </a:rPr>
              <a:t>Chức năng đột phá</a:t>
            </a:r>
            <a:endParaRPr lang="en-US" sz="1400" dirty="0"/>
          </a:p>
        </p:txBody>
      </p:sp>
      <p:sp>
        <p:nvSpPr>
          <p:cNvPr id="3" name="Text 1"/>
          <p:cNvSpPr/>
          <p:nvPr>
            <p:ph type="title"/>
          </p:nvPr>
        </p:nvSpPr>
        <p:spPr>
          <a:xfrm>
            <a:off x="812800" y="1239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BE8"/>
                </a:solidFill>
                <a:latin typeface="Fredoka" pitchFamily="34" charset="0"/>
                <a:ea typeface="Fredoka" pitchFamily="34" charset="-122"/>
                <a:cs typeface="Fredoka" pitchFamily="34" charset="-120"/>
              </a:rPr>
              <a:t>AI: bản sao sức khỏe của bạn</a:t>
            </a:r>
            <a:endParaRPr lang="en-US" sz="3600" dirty="0"/>
          </a:p>
        </p:txBody>
      </p:sp>
      <p:sp>
        <p:nvSpPr>
          <p:cNvPr id="4" name="Text 2"/>
          <p:cNvSpPr/>
          <p:nvPr/>
        </p:nvSpPr>
        <p:spPr>
          <a:xfrm>
            <a:off x="812800" y="1971039"/>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E0D0"/>
                </a:solidFill>
                <a:latin typeface="Nunito" pitchFamily="34" charset="0"/>
                <a:ea typeface="Nunito" pitchFamily="34" charset="-122"/>
                <a:cs typeface="Nunito" pitchFamily="34" charset="-120"/>
              </a:rPr>
              <a:t>Gộp dữ liệu ngủ, ăn, chi tiêu và lịch sinh hoạt để gợi ý riêng cho từng người.</a:t>
            </a:r>
            <a:endParaRPr lang="en-US" sz="1600" dirty="0"/>
          </a:p>
        </p:txBody>
      </p:sp>
      <p:sp>
        <p:nvSpPr>
          <p:cNvPr id="5" name="Text 3"/>
          <p:cNvSpPr/>
          <p:nvPr/>
        </p:nvSpPr>
        <p:spPr>
          <a:xfrm>
            <a:off x="812800" y="2484121"/>
            <a:ext cx="4902200" cy="543560"/>
          </a:xfrm>
          <a:prstGeom prst="roundRect">
            <a:avLst>
              <a:gd name="adj" fmla="val 23364"/>
            </a:avLst>
          </a:prstGeom>
          <a:solidFill>
            <a:srgbClr val="F3FBE8"/>
          </a:solidFill>
          <a:ln/>
        </p:spPr>
        <p:txBody>
          <a:bodyPr wrap="square" lIns="166003" tIns="102503" rIns="31129" bIns="77103" rtlCol="0" anchor="t">
            <a:normAutofit/>
          </a:bodyPr>
          <a:lstStyle/>
          <a:p>
            <a:pPr algn="l" indent="0" marL="0">
              <a:lnSpc>
                <a:spcPts val="2080"/>
              </a:lnSpc>
              <a:buNone/>
            </a:pPr>
            <a:r>
              <a:rPr lang="en-US" sz="1600" b="1" dirty="0">
                <a:solidFill>
                  <a:srgbClr val="0F2A22"/>
                </a:solidFill>
                <a:latin typeface="Nunito" pitchFamily="34" charset="0"/>
                <a:ea typeface="Nunito" pitchFamily="34" charset="-122"/>
                <a:cs typeface="Nunito" pitchFamily="34" charset="-120"/>
              </a:rPr>
              <a:t>Ngủ ít + học nhiều</a:t>
            </a:r>
            <a:endParaRPr lang="en-US" sz="1600" dirty="0"/>
          </a:p>
        </p:txBody>
      </p:sp>
      <p:pic>
        <p:nvPicPr>
          <p:cNvPr id="6" name="Image 0" descr="arrow-right">    </p:cNvPr>
          <p:cNvPicPr>
            <a:picLocks noChangeAspect="1"/>
          </p:cNvPicPr>
          <p:nvPr/>
        </p:nvPicPr>
        <p:blipFill>
          <a:blip r:embed="rId1"/>
          <a:srcRect l="0" r="0" t="0" b="0"/>
          <a:stretch/>
        </p:blipFill>
        <p:spPr>
          <a:xfrm>
            <a:off x="5867400" y="2641600"/>
            <a:ext cx="457200" cy="228600"/>
          </a:xfrm>
          <a:prstGeom prst="rect">
            <a:avLst/>
          </a:prstGeom>
        </p:spPr>
      </p:pic>
      <p:sp>
        <p:nvSpPr>
          <p:cNvPr id="7" name="Text 4"/>
          <p:cNvSpPr/>
          <p:nvPr/>
        </p:nvSpPr>
        <p:spPr>
          <a:xfrm>
            <a:off x="6477000" y="2484121"/>
            <a:ext cx="4902200" cy="543560"/>
          </a:xfrm>
          <a:prstGeom prst="roundRect">
            <a:avLst>
              <a:gd name="adj" fmla="val 23364"/>
            </a:avLst>
          </a:prstGeom>
          <a:solidFill>
            <a:srgbClr val="C8F560"/>
          </a:solidFill>
          <a:ln/>
        </p:spPr>
        <p:txBody>
          <a:bodyPr wrap="square" lIns="166003" tIns="102503" rIns="31129" bIns="77103" rtlCol="0" anchor="t">
            <a:normAutofit/>
          </a:bodyPr>
          <a:lstStyle/>
          <a:p>
            <a:pPr algn="l" indent="0" marL="0">
              <a:lnSpc>
                <a:spcPts val="2080"/>
              </a:lnSpc>
              <a:buNone/>
            </a:pPr>
            <a:r>
              <a:rPr lang="en-US" sz="1600" b="1" dirty="0">
                <a:solidFill>
                  <a:srgbClr val="0F2A22"/>
                </a:solidFill>
                <a:latin typeface="Nunito" pitchFamily="34" charset="0"/>
                <a:ea typeface="Nunito" pitchFamily="34" charset="-122"/>
                <a:cs typeface="Nunito" pitchFamily="34" charset="-120"/>
              </a:rPr>
              <a:t>Chỉnh lịch nghỉ</a:t>
            </a:r>
            <a:endParaRPr lang="en-US" sz="1600" dirty="0"/>
          </a:p>
        </p:txBody>
      </p:sp>
      <p:sp>
        <p:nvSpPr>
          <p:cNvPr id="8" name="Text 5"/>
          <p:cNvSpPr/>
          <p:nvPr/>
        </p:nvSpPr>
        <p:spPr>
          <a:xfrm>
            <a:off x="812800" y="3154682"/>
            <a:ext cx="4902200" cy="543560"/>
          </a:xfrm>
          <a:prstGeom prst="roundRect">
            <a:avLst>
              <a:gd name="adj" fmla="val 23364"/>
            </a:avLst>
          </a:prstGeom>
          <a:solidFill>
            <a:srgbClr val="F3FBE8"/>
          </a:solidFill>
          <a:ln/>
        </p:spPr>
        <p:txBody>
          <a:bodyPr wrap="square" lIns="166003" tIns="102503" rIns="31129" bIns="77103" rtlCol="0" anchor="t">
            <a:normAutofit/>
          </a:bodyPr>
          <a:lstStyle/>
          <a:p>
            <a:pPr algn="l" indent="0" marL="0">
              <a:lnSpc>
                <a:spcPts val="2080"/>
              </a:lnSpc>
              <a:buNone/>
            </a:pPr>
            <a:r>
              <a:rPr lang="en-US" sz="1600" b="1" dirty="0">
                <a:solidFill>
                  <a:srgbClr val="0F2A22"/>
                </a:solidFill>
                <a:latin typeface="Nunito" pitchFamily="34" charset="0"/>
                <a:ea typeface="Nunito" pitchFamily="34" charset="-122"/>
                <a:cs typeface="Nunito" pitchFamily="34" charset="-120"/>
              </a:rPr>
              <a:t>Ăn uống vượt ngân sách</a:t>
            </a:r>
            <a:endParaRPr lang="en-US" sz="1600" dirty="0"/>
          </a:p>
        </p:txBody>
      </p:sp>
      <p:pic>
        <p:nvPicPr>
          <p:cNvPr id="9" name="Image 1" descr="arrow-right">    </p:cNvPr>
          <p:cNvPicPr>
            <a:picLocks noChangeAspect="1"/>
          </p:cNvPicPr>
          <p:nvPr/>
        </p:nvPicPr>
        <p:blipFill>
          <a:blip r:embed="rId2"/>
          <a:srcRect l="0" r="0" t="0" b="0"/>
          <a:stretch/>
        </p:blipFill>
        <p:spPr>
          <a:xfrm>
            <a:off x="5867400" y="3312161"/>
            <a:ext cx="457200" cy="228600"/>
          </a:xfrm>
          <a:prstGeom prst="rect">
            <a:avLst/>
          </a:prstGeom>
        </p:spPr>
      </p:pic>
      <p:sp>
        <p:nvSpPr>
          <p:cNvPr id="10" name="Text 6"/>
          <p:cNvSpPr/>
          <p:nvPr/>
        </p:nvSpPr>
        <p:spPr>
          <a:xfrm>
            <a:off x="6477000" y="3154682"/>
            <a:ext cx="4902200" cy="543560"/>
          </a:xfrm>
          <a:prstGeom prst="roundRect">
            <a:avLst>
              <a:gd name="adj" fmla="val 23364"/>
            </a:avLst>
          </a:prstGeom>
          <a:solidFill>
            <a:srgbClr val="C8F560"/>
          </a:solidFill>
          <a:ln/>
        </p:spPr>
        <p:txBody>
          <a:bodyPr wrap="square" lIns="166003" tIns="102503" rIns="31129" bIns="77103" rtlCol="0" anchor="t">
            <a:normAutofit/>
          </a:bodyPr>
          <a:lstStyle/>
          <a:p>
            <a:pPr algn="l" indent="0" marL="0">
              <a:lnSpc>
                <a:spcPts val="2080"/>
              </a:lnSpc>
              <a:buNone/>
            </a:pPr>
            <a:r>
              <a:rPr lang="en-US" sz="1600" b="1" dirty="0">
                <a:solidFill>
                  <a:srgbClr val="0F2A22"/>
                </a:solidFill>
                <a:latin typeface="Nunito" pitchFamily="34" charset="0"/>
                <a:ea typeface="Nunito" pitchFamily="34" charset="-122"/>
                <a:cs typeface="Nunito" pitchFamily="34" charset="-120"/>
              </a:rPr>
              <a:t>Gợi ý bữa ăn rẻ hơn</a:t>
            </a:r>
            <a:endParaRPr lang="en-US" sz="1600" dirty="0"/>
          </a:p>
        </p:txBody>
      </p:sp>
      <p:sp>
        <p:nvSpPr>
          <p:cNvPr id="11" name="Text 7"/>
          <p:cNvSpPr/>
          <p:nvPr/>
        </p:nvSpPr>
        <p:spPr>
          <a:xfrm>
            <a:off x="812800" y="3825239"/>
            <a:ext cx="4902200" cy="543560"/>
          </a:xfrm>
          <a:prstGeom prst="roundRect">
            <a:avLst>
              <a:gd name="adj" fmla="val 23364"/>
            </a:avLst>
          </a:prstGeom>
          <a:solidFill>
            <a:srgbClr val="F3FBE8"/>
          </a:solidFill>
          <a:ln/>
        </p:spPr>
        <p:txBody>
          <a:bodyPr wrap="square" lIns="166003" tIns="102503" rIns="31129" bIns="77103" rtlCol="0" anchor="t">
            <a:normAutofit/>
          </a:bodyPr>
          <a:lstStyle/>
          <a:p>
            <a:pPr algn="l" indent="0" marL="0">
              <a:lnSpc>
                <a:spcPts val="2080"/>
              </a:lnSpc>
              <a:buNone/>
            </a:pPr>
            <a:r>
              <a:rPr lang="en-US" sz="1600" b="1" dirty="0">
                <a:solidFill>
                  <a:srgbClr val="0F2A22"/>
                </a:solidFill>
                <a:latin typeface="Nunito" pitchFamily="34" charset="0"/>
                <a:ea typeface="Nunito" pitchFamily="34" charset="-122"/>
                <a:cs typeface="Nunito" pitchFamily="34" charset="-120"/>
              </a:rPr>
              <a:t>Ngồi lâu</a:t>
            </a:r>
            <a:endParaRPr lang="en-US" sz="1600" dirty="0"/>
          </a:p>
        </p:txBody>
      </p:sp>
      <p:pic>
        <p:nvPicPr>
          <p:cNvPr id="12" name="Image 2" descr="arrow-right">    </p:cNvPr>
          <p:cNvPicPr>
            <a:picLocks noChangeAspect="1"/>
          </p:cNvPicPr>
          <p:nvPr/>
        </p:nvPicPr>
        <p:blipFill>
          <a:blip r:embed="rId3"/>
          <a:srcRect l="0" r="0" t="0" b="0"/>
          <a:stretch/>
        </p:blipFill>
        <p:spPr>
          <a:xfrm>
            <a:off x="5867400" y="3982721"/>
            <a:ext cx="457200" cy="228600"/>
          </a:xfrm>
          <a:prstGeom prst="rect">
            <a:avLst/>
          </a:prstGeom>
        </p:spPr>
      </p:pic>
      <p:sp>
        <p:nvSpPr>
          <p:cNvPr id="13" name="Text 8"/>
          <p:cNvSpPr/>
          <p:nvPr/>
        </p:nvSpPr>
        <p:spPr>
          <a:xfrm>
            <a:off x="6477000" y="3825239"/>
            <a:ext cx="4902200" cy="543560"/>
          </a:xfrm>
          <a:prstGeom prst="roundRect">
            <a:avLst>
              <a:gd name="adj" fmla="val 23364"/>
            </a:avLst>
          </a:prstGeom>
          <a:solidFill>
            <a:srgbClr val="C8F560"/>
          </a:solidFill>
          <a:ln/>
        </p:spPr>
        <p:txBody>
          <a:bodyPr wrap="square" lIns="166003" tIns="102503" rIns="31129" bIns="77103" rtlCol="0" anchor="t">
            <a:normAutofit/>
          </a:bodyPr>
          <a:lstStyle/>
          <a:p>
            <a:pPr algn="l" indent="0" marL="0">
              <a:lnSpc>
                <a:spcPts val="2080"/>
              </a:lnSpc>
              <a:buNone/>
            </a:pPr>
            <a:r>
              <a:rPr lang="en-US" sz="1600" b="1" dirty="0">
                <a:solidFill>
                  <a:srgbClr val="0F2A22"/>
                </a:solidFill>
                <a:latin typeface="Nunito" pitchFamily="34" charset="0"/>
                <a:ea typeface="Nunito" pitchFamily="34" charset="-122"/>
                <a:cs typeface="Nunito" pitchFamily="34" charset="-120"/>
              </a:rPr>
              <a:t>Nhắc vận động nhẹ đúng lúc</a:t>
            </a:r>
            <a:endParaRPr lang="en-US" sz="1600" dirty="0"/>
          </a:p>
        </p:txBody>
      </p:sp>
      <p:sp>
        <p:nvSpPr>
          <p:cNvPr id="14" name="Text 9"/>
          <p:cNvSpPr/>
          <p:nvPr/>
        </p:nvSpPr>
        <p:spPr>
          <a:xfrm>
            <a:off x="812800" y="4495800"/>
            <a:ext cx="4902200" cy="543560"/>
          </a:xfrm>
          <a:prstGeom prst="roundRect">
            <a:avLst>
              <a:gd name="adj" fmla="val 23364"/>
            </a:avLst>
          </a:prstGeom>
          <a:solidFill>
            <a:srgbClr val="F3FBE8"/>
          </a:solidFill>
          <a:ln/>
        </p:spPr>
        <p:txBody>
          <a:bodyPr wrap="square" lIns="166003" tIns="102503" rIns="31129" bIns="77103" rtlCol="0" anchor="t">
            <a:normAutofit/>
          </a:bodyPr>
          <a:lstStyle/>
          <a:p>
            <a:pPr algn="l" indent="0" marL="0">
              <a:lnSpc>
                <a:spcPts val="2080"/>
              </a:lnSpc>
              <a:buNone/>
            </a:pPr>
            <a:r>
              <a:rPr lang="en-US" sz="1600" b="1" dirty="0">
                <a:solidFill>
                  <a:srgbClr val="0F2A22"/>
                </a:solidFill>
                <a:latin typeface="Nunito" pitchFamily="34" charset="0"/>
                <a:ea typeface="Nunito" pitchFamily="34" charset="-122"/>
                <a:cs typeface="Nunito" pitchFamily="34" charset="-120"/>
              </a:rPr>
              <a:t>Lịch học dày</a:t>
            </a:r>
            <a:endParaRPr lang="en-US" sz="1600" dirty="0"/>
          </a:p>
        </p:txBody>
      </p:sp>
      <p:pic>
        <p:nvPicPr>
          <p:cNvPr id="15" name="Image 3" descr="arrow-right">    </p:cNvPr>
          <p:cNvPicPr>
            <a:picLocks noChangeAspect="1"/>
          </p:cNvPicPr>
          <p:nvPr/>
        </p:nvPicPr>
        <p:blipFill>
          <a:blip r:embed="rId4"/>
          <a:srcRect l="0" r="0" t="0" b="0"/>
          <a:stretch/>
        </p:blipFill>
        <p:spPr>
          <a:xfrm>
            <a:off x="5867400" y="4653282"/>
            <a:ext cx="457200" cy="228600"/>
          </a:xfrm>
          <a:prstGeom prst="rect">
            <a:avLst/>
          </a:prstGeom>
        </p:spPr>
      </p:pic>
      <p:sp>
        <p:nvSpPr>
          <p:cNvPr id="16" name="Text 10"/>
          <p:cNvSpPr/>
          <p:nvPr/>
        </p:nvSpPr>
        <p:spPr>
          <a:xfrm>
            <a:off x="6477000" y="4495800"/>
            <a:ext cx="4902200" cy="543560"/>
          </a:xfrm>
          <a:prstGeom prst="roundRect">
            <a:avLst>
              <a:gd name="adj" fmla="val 23364"/>
            </a:avLst>
          </a:prstGeom>
          <a:solidFill>
            <a:srgbClr val="C8F560"/>
          </a:solidFill>
          <a:ln/>
        </p:spPr>
        <p:txBody>
          <a:bodyPr wrap="square" lIns="166003" tIns="102503" rIns="31129" bIns="77103" rtlCol="0" anchor="t">
            <a:normAutofit/>
          </a:bodyPr>
          <a:lstStyle/>
          <a:p>
            <a:pPr algn="l" indent="0" marL="0">
              <a:lnSpc>
                <a:spcPts val="2080"/>
              </a:lnSpc>
              <a:buNone/>
            </a:pPr>
            <a:r>
              <a:rPr lang="en-US" sz="1600" b="1" dirty="0">
                <a:solidFill>
                  <a:srgbClr val="0F2A22"/>
                </a:solidFill>
                <a:latin typeface="Nunito" pitchFamily="34" charset="0"/>
                <a:ea typeface="Nunito" pitchFamily="34" charset="-122"/>
                <a:cs typeface="Nunito" pitchFamily="34" charset="-120"/>
              </a:rPr>
              <a:t>Đề xuất giải lao</a:t>
            </a:r>
            <a:endParaRPr lang="en-US" sz="1600" dirty="0"/>
          </a:p>
        </p:txBody>
      </p:sp>
      <p:sp>
        <p:nvSpPr>
          <p:cNvPr id="17" name="Text 11"/>
          <p:cNvSpPr/>
          <p:nvPr/>
        </p:nvSpPr>
        <p:spPr>
          <a:xfrm>
            <a:off x="495808" y="6238239"/>
            <a:ext cx="1088339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8FB5A5"/>
                </a:solidFill>
                <a:latin typeface="Nunito" pitchFamily="34" charset="0"/>
                <a:ea typeface="Nunito" pitchFamily="34" charset="-122"/>
                <a:cs typeface="Nunito" pitchFamily="34" charset="-120"/>
              </a:rPr>
              <a:t>Nhóm 6 | 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DF1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0363200" y="812800"/>
            <a:ext cx="1016000" cy="1016000"/>
          </a:xfrm>
          <a:prstGeom prst="rect">
            <a:avLst/>
          </a:prstGeom>
        </p:spPr>
      </p:pic>
      <p:pic>
        <p:nvPicPr>
          <p:cNvPr id="3" name="Image 1" descr="Star">    </p:cNvPr>
          <p:cNvPicPr>
            <a:picLocks noChangeAspect="1"/>
          </p:cNvPicPr>
          <p:nvPr/>
        </p:nvPicPr>
        <p:blipFill>
          <a:blip r:embed="rId2"/>
          <a:srcRect l="0" r="0" t="0" b="0"/>
          <a:stretch/>
        </p:blipFill>
        <p:spPr>
          <a:xfrm>
            <a:off x="10591800" y="1041400"/>
            <a:ext cx="558800" cy="558800"/>
          </a:xfrm>
          <a:prstGeom prst="rect">
            <a:avLst/>
          </a:prstGeom>
        </p:spPr>
      </p:pic>
      <p:sp>
        <p:nvSpPr>
          <p:cNvPr id="4" name="Text 0"/>
          <p:cNvSpPr/>
          <p:nvPr/>
        </p:nvSpPr>
        <p:spPr>
          <a:xfrm rot="21480000">
            <a:off x="822960" y="822326"/>
            <a:ext cx="501650" cy="336550"/>
          </a:xfrm>
          <a:custGeom>
            <a:avLst/>
            <a:gdLst/>
            <a:ahLst/>
            <a:cxnLst/>
            <a:rect l="l" t="t" r="r" b="b"/>
            <a:pathLst>
              <a:path w="501650" h="336550">
                <a:moveTo>
                  <a:pt x="168275" y="0"/>
                </a:moveTo>
                <a:lnTo>
                  <a:pt x="333375" y="0"/>
                </a:lnTo>
                <a:arcTo hR="168275" wR="168275" stAng="16200000" swAng="5400000"/>
                <a:lnTo>
                  <a:pt x="501650" y="168275"/>
                </a:lnTo>
                <a:arcTo hR="168275" wR="168275" stAng="0" swAng="5400000"/>
                <a:lnTo>
                  <a:pt x="168275" y="336550"/>
                </a:lnTo>
                <a:arcTo hR="168275" wR="168275" stAng="5400000" swAng="5400000"/>
                <a:lnTo>
                  <a:pt x="0" y="168275"/>
                </a:lnTo>
                <a:arcTo hR="168275" wR="168275" stAng="10800000" swAng="5400000"/>
                <a:close/>
              </a:path>
            </a:pathLst>
          </a:custGeom>
          <a:solidFill>
            <a:srgbClr val="C8F560"/>
          </a:solidFill>
          <a:ln w="19050">
            <a:solidFill>
              <a:srgbClr val="0F2A22"/>
            </a:solidFill>
            <a:prstDash val="solid"/>
          </a:ln>
        </p:spPr>
        <p:txBody>
          <a:bodyPr wrap="none" lIns="0" tIns="0" rIns="0" bIns="0" rtlCol="0" anchor="ctr">
            <a:normAutofit/>
          </a:bodyPr>
          <a:lstStyle/>
          <a:p>
            <a:pPr algn="ctr" indent="0" marL="0">
              <a:lnSpc>
                <a:spcPts val="1960"/>
              </a:lnSpc>
              <a:buNone/>
            </a:pPr>
            <a:r>
              <a:rPr lang="en-US" sz="1400" b="1" dirty="0">
                <a:solidFill>
                  <a:srgbClr val="0F2A22"/>
                </a:solidFill>
                <a:latin typeface="Nunito" pitchFamily="34" charset="0"/>
                <a:ea typeface="Nunito" pitchFamily="34" charset="-122"/>
                <a:cs typeface="Nunito" pitchFamily="34" charset="-120"/>
              </a:rPr>
              <a:t>AI</a:t>
            </a:r>
            <a:endParaRPr lang="en-US" sz="1400" dirty="0"/>
          </a:p>
        </p:txBody>
      </p:sp>
      <p:sp>
        <p:nvSpPr>
          <p:cNvPr id="5" name="Text 1"/>
          <p:cNvSpPr/>
          <p:nvPr>
            <p:ph type="title"/>
          </p:nvPr>
        </p:nvSpPr>
        <p:spPr>
          <a:xfrm>
            <a:off x="812800" y="1270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A22"/>
                </a:solidFill>
                <a:latin typeface="Fredoka" pitchFamily="34" charset="0"/>
                <a:ea typeface="Fredoka" pitchFamily="34" charset="-122"/>
                <a:cs typeface="Fredoka" pitchFamily="34" charset="-120"/>
              </a:rPr>
              <a:t>Đồng hành mỗi tuần</a:t>
            </a:r>
            <a:endParaRPr lang="en-US" sz="3600" dirty="0"/>
          </a:p>
        </p:txBody>
      </p:sp>
      <p:sp>
        <p:nvSpPr>
          <p:cNvPr id="6" name="Shape 2"/>
          <p:cNvSpPr/>
          <p:nvPr/>
        </p:nvSpPr>
        <p:spPr>
          <a:xfrm>
            <a:off x="822325" y="2036446"/>
            <a:ext cx="3333750" cy="2053590"/>
          </a:xfrm>
          <a:prstGeom prst="roundRect">
            <a:avLst>
              <a:gd name="adj" fmla="val 6957"/>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7" name="Shape 3"/>
          <p:cNvSpPr/>
          <p:nvPr/>
        </p:nvSpPr>
        <p:spPr>
          <a:xfrm>
            <a:off x="1066165" y="2280286"/>
            <a:ext cx="539750" cy="539750"/>
          </a:xfrm>
          <a:prstGeom prst="roundRect">
            <a:avLst>
              <a:gd name="adj" fmla="val 50000"/>
            </a:avLst>
          </a:prstGeom>
          <a:solidFill>
            <a:srgbClr val="3DDC84"/>
          </a:solidFill>
          <a:ln w="19050">
            <a:solidFill>
              <a:srgbClr val="0F2A22"/>
            </a:solidFill>
            <a:prstDash val="solid"/>
          </a:ln>
        </p:spPr>
      </p:sp>
      <p:pic>
        <p:nvPicPr>
          <p:cNvPr id="8" name="Image 2" descr="CheckCircle">    </p:cNvPr>
          <p:cNvPicPr>
            <a:picLocks noChangeAspect="1"/>
          </p:cNvPicPr>
          <p:nvPr/>
        </p:nvPicPr>
        <p:blipFill>
          <a:blip r:embed="rId3"/>
          <a:srcRect l="0" r="0" t="0" b="0"/>
          <a:stretch/>
        </p:blipFill>
        <p:spPr>
          <a:xfrm>
            <a:off x="1170940" y="2385061"/>
            <a:ext cx="330200" cy="330200"/>
          </a:xfrm>
          <a:prstGeom prst="rect">
            <a:avLst/>
          </a:prstGeom>
        </p:spPr>
      </p:pic>
      <p:sp>
        <p:nvSpPr>
          <p:cNvPr id="9" name="Text 4"/>
          <p:cNvSpPr/>
          <p:nvPr/>
        </p:nvSpPr>
        <p:spPr>
          <a:xfrm>
            <a:off x="1056640" y="2956561"/>
            <a:ext cx="29510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22"/>
                </a:solidFill>
                <a:latin typeface="Fredoka" pitchFamily="34" charset="0"/>
                <a:ea typeface="Fredoka" pitchFamily="34" charset="-122"/>
                <a:cs typeface="Fredoka" pitchFamily="34" charset="-120"/>
              </a:rPr>
              <a:t>Tổng kết cuối tuần</a:t>
            </a:r>
            <a:endParaRPr lang="en-US" sz="1800" dirty="0"/>
          </a:p>
        </p:txBody>
      </p:sp>
      <p:sp>
        <p:nvSpPr>
          <p:cNvPr id="10" name="Text 5"/>
          <p:cNvSpPr/>
          <p:nvPr/>
        </p:nvSpPr>
        <p:spPr>
          <a:xfrm>
            <a:off x="1056640" y="3357882"/>
            <a:ext cx="29510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F4A41"/>
                </a:solidFill>
                <a:latin typeface="Nunito" pitchFamily="34" charset="0"/>
                <a:ea typeface="Nunito" pitchFamily="34" charset="-122"/>
                <a:cs typeface="Nunito" pitchFamily="34" charset="-120"/>
              </a:rPr>
              <a:t>Xem lại mục tiêu cả tuần để chỉnh kế hoạch tuần sau.</a:t>
            </a:r>
            <a:endParaRPr lang="en-US" sz="1400" dirty="0"/>
          </a:p>
        </p:txBody>
      </p:sp>
      <p:sp>
        <p:nvSpPr>
          <p:cNvPr id="11" name="Shape 6"/>
          <p:cNvSpPr/>
          <p:nvPr/>
        </p:nvSpPr>
        <p:spPr>
          <a:xfrm>
            <a:off x="4429125" y="2036446"/>
            <a:ext cx="3333750" cy="2053590"/>
          </a:xfrm>
          <a:prstGeom prst="roundRect">
            <a:avLst>
              <a:gd name="adj" fmla="val 6957"/>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12" name="Shape 7"/>
          <p:cNvSpPr/>
          <p:nvPr/>
        </p:nvSpPr>
        <p:spPr>
          <a:xfrm>
            <a:off x="4672965" y="2280286"/>
            <a:ext cx="539750" cy="539750"/>
          </a:xfrm>
          <a:prstGeom prst="roundRect">
            <a:avLst>
              <a:gd name="adj" fmla="val 50000"/>
            </a:avLst>
          </a:prstGeom>
          <a:solidFill>
            <a:srgbClr val="C8F560"/>
          </a:solidFill>
          <a:ln w="19050">
            <a:solidFill>
              <a:srgbClr val="0F2A22"/>
            </a:solidFill>
            <a:prstDash val="solid"/>
          </a:ln>
        </p:spPr>
      </p:sp>
      <p:pic>
        <p:nvPicPr>
          <p:cNvPr id="13" name="Image 3" descr="Star">    </p:cNvPr>
          <p:cNvPicPr>
            <a:picLocks noChangeAspect="1"/>
          </p:cNvPicPr>
          <p:nvPr/>
        </p:nvPicPr>
        <p:blipFill>
          <a:blip r:embed="rId4"/>
          <a:srcRect l="0" r="0" t="0" b="0"/>
          <a:stretch/>
        </p:blipFill>
        <p:spPr>
          <a:xfrm>
            <a:off x="4777740" y="2385061"/>
            <a:ext cx="330200" cy="330200"/>
          </a:xfrm>
          <a:prstGeom prst="rect">
            <a:avLst/>
          </a:prstGeom>
        </p:spPr>
      </p:pic>
      <p:sp>
        <p:nvSpPr>
          <p:cNvPr id="14" name="Text 8"/>
          <p:cNvSpPr/>
          <p:nvPr/>
        </p:nvSpPr>
        <p:spPr>
          <a:xfrm>
            <a:off x="4663440" y="2956561"/>
            <a:ext cx="29510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22"/>
                </a:solidFill>
                <a:latin typeface="Fredoka" pitchFamily="34" charset="0"/>
                <a:ea typeface="Fredoka" pitchFamily="34" charset="-122"/>
                <a:cs typeface="Fredoka" pitchFamily="34" charset="-120"/>
              </a:rPr>
              <a:t>Thử thách, tích điểm</a:t>
            </a:r>
            <a:endParaRPr lang="en-US" sz="1800" dirty="0"/>
          </a:p>
        </p:txBody>
      </p:sp>
      <p:sp>
        <p:nvSpPr>
          <p:cNvPr id="15" name="Text 9"/>
          <p:cNvSpPr/>
          <p:nvPr/>
        </p:nvSpPr>
        <p:spPr>
          <a:xfrm>
            <a:off x="4663440" y="3357882"/>
            <a:ext cx="29510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F4A41"/>
                </a:solidFill>
                <a:latin typeface="Nunito" pitchFamily="34" charset="0"/>
                <a:ea typeface="Nunito" pitchFamily="34" charset="-122"/>
                <a:cs typeface="Nunito" pitchFamily="34" charset="-120"/>
              </a:rPr>
              <a:t>Ngủ đúng giờ, đi bộ, uống nước. Tích điểm đổi voucher.</a:t>
            </a:r>
            <a:endParaRPr lang="en-US" sz="1400" dirty="0"/>
          </a:p>
        </p:txBody>
      </p:sp>
      <p:sp>
        <p:nvSpPr>
          <p:cNvPr id="16" name="Shape 10"/>
          <p:cNvSpPr/>
          <p:nvPr/>
        </p:nvSpPr>
        <p:spPr>
          <a:xfrm>
            <a:off x="8035925" y="2036446"/>
            <a:ext cx="3333750" cy="2053590"/>
          </a:xfrm>
          <a:prstGeom prst="roundRect">
            <a:avLst>
              <a:gd name="adj" fmla="val 6957"/>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17" name="Shape 11"/>
          <p:cNvSpPr/>
          <p:nvPr/>
        </p:nvSpPr>
        <p:spPr>
          <a:xfrm>
            <a:off x="8279765" y="2280286"/>
            <a:ext cx="539750" cy="539750"/>
          </a:xfrm>
          <a:prstGeom prst="roundRect">
            <a:avLst>
              <a:gd name="adj" fmla="val 50000"/>
            </a:avLst>
          </a:prstGeom>
          <a:solidFill>
            <a:srgbClr val="8ED1FF"/>
          </a:solidFill>
          <a:ln w="19050">
            <a:solidFill>
              <a:srgbClr val="0F2A22"/>
            </a:solidFill>
            <a:prstDash val="solid"/>
          </a:ln>
        </p:spPr>
      </p:sp>
      <p:pic>
        <p:nvPicPr>
          <p:cNvPr id="18" name="Image 4" descr="Lightbulb">    </p:cNvPr>
          <p:cNvPicPr>
            <a:picLocks noChangeAspect="1"/>
          </p:cNvPicPr>
          <p:nvPr/>
        </p:nvPicPr>
        <p:blipFill>
          <a:blip r:embed="rId5"/>
          <a:srcRect l="0" r="0" t="0" b="0"/>
          <a:stretch/>
        </p:blipFill>
        <p:spPr>
          <a:xfrm>
            <a:off x="8384540" y="2385061"/>
            <a:ext cx="330200" cy="330200"/>
          </a:xfrm>
          <a:prstGeom prst="rect">
            <a:avLst/>
          </a:prstGeom>
        </p:spPr>
      </p:pic>
      <p:sp>
        <p:nvSpPr>
          <p:cNvPr id="19" name="Text 12"/>
          <p:cNvSpPr/>
          <p:nvPr/>
        </p:nvSpPr>
        <p:spPr>
          <a:xfrm>
            <a:off x="8270240" y="2956561"/>
            <a:ext cx="29510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22"/>
                </a:solidFill>
                <a:latin typeface="Fredoka" pitchFamily="34" charset="0"/>
                <a:ea typeface="Fredoka" pitchFamily="34" charset="-122"/>
                <a:cs typeface="Fredoka" pitchFamily="34" charset="-120"/>
              </a:rPr>
              <a:t>Mô phỏng 7 ngày</a:t>
            </a:r>
            <a:endParaRPr lang="en-US" sz="1800" dirty="0"/>
          </a:p>
        </p:txBody>
      </p:sp>
      <p:sp>
        <p:nvSpPr>
          <p:cNvPr id="20" name="Text 13"/>
          <p:cNvSpPr/>
          <p:nvPr/>
        </p:nvSpPr>
        <p:spPr>
          <a:xfrm>
            <a:off x="8270240" y="3357882"/>
            <a:ext cx="295107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F4A41"/>
                </a:solidFill>
                <a:latin typeface="Nunito" pitchFamily="34" charset="0"/>
                <a:ea typeface="Nunito" pitchFamily="34" charset="-122"/>
                <a:cs typeface="Nunito" pitchFamily="34" charset="-120"/>
              </a:rPr>
              <a:t>Thử đổi thói quen, so sánh kịch bản, thử nghiệm trong 7 ngày.</a:t>
            </a:r>
            <a:endParaRPr lang="en-US" sz="1400" dirty="0"/>
          </a:p>
        </p:txBody>
      </p:sp>
      <p:sp>
        <p:nvSpPr>
          <p:cNvPr id="21" name="Shape 14"/>
          <p:cNvSpPr/>
          <p:nvPr/>
        </p:nvSpPr>
        <p:spPr>
          <a:xfrm>
            <a:off x="822325" y="4363089"/>
            <a:ext cx="10547350" cy="722630"/>
          </a:xfrm>
          <a:prstGeom prst="roundRect">
            <a:avLst>
              <a:gd name="adj" fmla="val 19772"/>
            </a:avLst>
          </a:prstGeom>
          <a:solidFill>
            <a:srgbClr val="FFE9A8"/>
          </a:solidFill>
          <a:ln w="19050">
            <a:solidFill>
              <a:srgbClr val="0F2A22"/>
            </a:solidFill>
            <a:prstDash val="solid"/>
          </a:ln>
          <a:effectLst>
            <a:outerShdw sx="100000" sy="100000" kx="0" ky="0" algn="bl" rotWithShape="0" blurRad="0" dist="71842" dir="2700000">
              <a:srgbClr val="0F2A22">
                <a:alpha val="100000"/>
              </a:srgbClr>
            </a:outerShdw>
          </a:effectLst>
        </p:spPr>
      </p:sp>
      <p:pic>
        <p:nvPicPr>
          <p:cNvPr id="22" name="Image 5" descr="Warning">    </p:cNvPr>
          <p:cNvPicPr>
            <a:picLocks noChangeAspect="1"/>
          </p:cNvPicPr>
          <p:nvPr/>
        </p:nvPicPr>
        <p:blipFill>
          <a:blip r:embed="rId6"/>
          <a:srcRect l="0" r="0" t="0" b="0"/>
          <a:stretch/>
        </p:blipFill>
        <p:spPr>
          <a:xfrm>
            <a:off x="1056640" y="4546600"/>
            <a:ext cx="355600" cy="355600"/>
          </a:xfrm>
          <a:prstGeom prst="rect">
            <a:avLst/>
          </a:prstGeom>
        </p:spPr>
      </p:pic>
      <p:sp>
        <p:nvSpPr>
          <p:cNvPr id="23" name="Text 15"/>
          <p:cNvSpPr/>
          <p:nvPr/>
        </p:nvSpPr>
        <p:spPr>
          <a:xfrm>
            <a:off x="1564640" y="4592321"/>
            <a:ext cx="7031546"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0F2A22"/>
                </a:solidFill>
                <a:latin typeface="Nunito" pitchFamily="34" charset="0"/>
                <a:ea typeface="Nunito" pitchFamily="34" charset="-122"/>
                <a:cs typeface="Nunito" pitchFamily="34" charset="-120"/>
              </a:rPr>
              <a:t>Lưu ý: app chỉ hỗ trợ lối sống, không thay thế chẩn đoán y tế.</a:t>
            </a:r>
            <a:endParaRPr lang="en-US" sz="1600" dirty="0"/>
          </a:p>
        </p:txBody>
      </p:sp>
      <p:sp>
        <p:nvSpPr>
          <p:cNvPr id="24" name="Text 16"/>
          <p:cNvSpPr/>
          <p:nvPr/>
        </p:nvSpPr>
        <p:spPr>
          <a:xfrm>
            <a:off x="495808" y="6238242"/>
            <a:ext cx="1088339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F4A41"/>
                </a:solidFill>
                <a:latin typeface="Nunito" pitchFamily="34" charset="0"/>
                <a:ea typeface="Nunito" pitchFamily="34" charset="-122"/>
                <a:cs typeface="Nunito" pitchFamily="34" charset="-120"/>
              </a:rPr>
              <a:t>Nhóm 6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BE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0363200" y="812800"/>
            <a:ext cx="1016000" cy="1016000"/>
          </a:xfrm>
          <a:prstGeom prst="rect">
            <a:avLst/>
          </a:prstGeom>
        </p:spPr>
      </p:pic>
      <p:pic>
        <p:nvPicPr>
          <p:cNvPr id="3" name="Image 1" descr="Database">    </p:cNvPr>
          <p:cNvPicPr>
            <a:picLocks noChangeAspect="1"/>
          </p:cNvPicPr>
          <p:nvPr/>
        </p:nvPicPr>
        <p:blipFill>
          <a:blip r:embed="rId2"/>
          <a:srcRect l="0" r="0" t="0" b="0"/>
          <a:stretch/>
        </p:blipFill>
        <p:spPr>
          <a:xfrm>
            <a:off x="10591800" y="1041400"/>
            <a:ext cx="558800" cy="558800"/>
          </a:xfrm>
          <a:prstGeom prst="rect">
            <a:avLst/>
          </a:prstGeom>
        </p:spPr>
      </p:pic>
      <p:sp>
        <p:nvSpPr>
          <p:cNvPr id="4" name="Text 0"/>
          <p:cNvSpPr/>
          <p:nvPr/>
        </p:nvSpPr>
        <p:spPr>
          <a:xfrm rot="21480000">
            <a:off x="820817" y="822327"/>
            <a:ext cx="920750" cy="336550"/>
          </a:xfrm>
          <a:custGeom>
            <a:avLst/>
            <a:gdLst/>
            <a:ahLst/>
            <a:cxnLst/>
            <a:rect l="l" t="t" r="r" b="b"/>
            <a:pathLst>
              <a:path w="920750" h="336550">
                <a:moveTo>
                  <a:pt x="168275" y="0"/>
                </a:moveTo>
                <a:lnTo>
                  <a:pt x="752475" y="0"/>
                </a:lnTo>
                <a:arcTo hR="168275" wR="168275" stAng="16200000" swAng="5400000"/>
                <a:lnTo>
                  <a:pt x="920750" y="168275"/>
                </a:lnTo>
                <a:arcTo hR="168275" wR="168275" stAng="0" swAng="5400000"/>
                <a:lnTo>
                  <a:pt x="168275" y="336550"/>
                </a:lnTo>
                <a:arcTo hR="168275" wR="168275" stAng="5400000" swAng="5400000"/>
                <a:lnTo>
                  <a:pt x="0" y="168275"/>
                </a:lnTo>
                <a:arcTo hR="168275" wR="168275" stAng="10800000" swAng="5400000"/>
                <a:close/>
              </a:path>
            </a:pathLst>
          </a:custGeom>
          <a:solidFill>
            <a:srgbClr val="C8F560"/>
          </a:solidFill>
          <a:ln w="19050">
            <a:solidFill>
              <a:srgbClr val="0F2A22"/>
            </a:solidFill>
            <a:prstDash val="solid"/>
          </a:ln>
        </p:spPr>
        <p:txBody>
          <a:bodyPr wrap="none" lIns="0" tIns="0" rIns="0" bIns="0" rtlCol="0" anchor="ctr">
            <a:normAutofit/>
          </a:bodyPr>
          <a:lstStyle/>
          <a:p>
            <a:pPr algn="ctr" indent="0" marL="0">
              <a:lnSpc>
                <a:spcPts val="1960"/>
              </a:lnSpc>
              <a:buNone/>
            </a:pPr>
            <a:r>
              <a:rPr lang="en-US" sz="1400" b="1" dirty="0">
                <a:solidFill>
                  <a:srgbClr val="0F2A22"/>
                </a:solidFill>
                <a:latin typeface="Nunito" pitchFamily="34" charset="0"/>
                <a:ea typeface="Nunito" pitchFamily="34" charset="-122"/>
                <a:cs typeface="Nunito" pitchFamily="34" charset="-120"/>
              </a:rPr>
              <a:t>Dữ liệu</a:t>
            </a:r>
            <a:endParaRPr lang="en-US" sz="1400" dirty="0"/>
          </a:p>
        </p:txBody>
      </p:sp>
      <p:sp>
        <p:nvSpPr>
          <p:cNvPr id="5" name="Text 1"/>
          <p:cNvSpPr/>
          <p:nvPr>
            <p:ph type="title"/>
          </p:nvPr>
        </p:nvSpPr>
        <p:spPr>
          <a:xfrm>
            <a:off x="812800" y="1270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A22"/>
                </a:solidFill>
                <a:latin typeface="Fredoka" pitchFamily="34" charset="0"/>
                <a:ea typeface="Fredoka" pitchFamily="34" charset="-122"/>
                <a:cs typeface="Fredoka" pitchFamily="34" charset="-120"/>
              </a:rPr>
              <a:t>Cơ sở dữ liệu: 3 bảng</a:t>
            </a:r>
            <a:endParaRPr lang="en-US" sz="3600" dirty="0"/>
          </a:p>
        </p:txBody>
      </p:sp>
      <p:sp>
        <p:nvSpPr>
          <p:cNvPr id="6" name="Shape 2"/>
          <p:cNvSpPr/>
          <p:nvPr/>
        </p:nvSpPr>
        <p:spPr>
          <a:xfrm>
            <a:off x="822325" y="2036446"/>
            <a:ext cx="3333750" cy="2623820"/>
          </a:xfrm>
          <a:prstGeom prst="roundRect">
            <a:avLst>
              <a:gd name="adj" fmla="val 5445"/>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7" name="Text 3"/>
          <p:cNvSpPr/>
          <p:nvPr/>
        </p:nvSpPr>
        <p:spPr>
          <a:xfrm>
            <a:off x="1066165" y="2280289"/>
            <a:ext cx="817086" cy="318770"/>
          </a:xfrm>
          <a:prstGeom prst="roundRect">
            <a:avLst>
              <a:gd name="adj" fmla="val 50000"/>
            </a:avLst>
          </a:prstGeom>
          <a:solidFill>
            <a:srgbClr val="3DDC84"/>
          </a:solidFill>
          <a:ln w="19050">
            <a:solidFill>
              <a:srgbClr val="0F2A22"/>
            </a:solidFill>
            <a:prstDash val="solid"/>
          </a:ln>
        </p:spPr>
        <p:txBody>
          <a:bodyPr wrap="none" lIns="0" tIns="0" rIns="0" bIns="0" rtlCol="0" anchor="ctr">
            <a:normAutofit/>
          </a:bodyPr>
          <a:lstStyle/>
          <a:p>
            <a:pPr algn="ctr" indent="0" marL="0">
              <a:lnSpc>
                <a:spcPts val="1820"/>
              </a:lnSpc>
              <a:buNone/>
            </a:pPr>
            <a:r>
              <a:rPr lang="en-US" sz="1300" b="1" dirty="0">
                <a:solidFill>
                  <a:srgbClr val="0F2A22"/>
                </a:solidFill>
                <a:latin typeface="Nunito" pitchFamily="34" charset="0"/>
                <a:ea typeface="Nunito" pitchFamily="34" charset="-122"/>
                <a:cs typeface="Nunito" pitchFamily="34" charset="-120"/>
              </a:rPr>
              <a:t>Bảng 1</a:t>
            </a:r>
            <a:endParaRPr lang="en-US" sz="1300" dirty="0"/>
          </a:p>
        </p:txBody>
      </p:sp>
      <p:sp>
        <p:nvSpPr>
          <p:cNvPr id="8" name="Text 4"/>
          <p:cNvSpPr/>
          <p:nvPr/>
        </p:nvSpPr>
        <p:spPr>
          <a:xfrm>
            <a:off x="1056640" y="2735579"/>
            <a:ext cx="29510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22"/>
                </a:solidFill>
                <a:latin typeface="Fredoka" pitchFamily="34" charset="0"/>
                <a:ea typeface="Fredoka" pitchFamily="34" charset="-122"/>
                <a:cs typeface="Fredoka" pitchFamily="34" charset="-120"/>
              </a:rPr>
              <a:t>Thông tin người dùng</a:t>
            </a:r>
            <a:endParaRPr lang="en-US" sz="1800" dirty="0"/>
          </a:p>
        </p:txBody>
      </p:sp>
      <p:sp>
        <p:nvSpPr>
          <p:cNvPr id="9" name="Text 5"/>
          <p:cNvSpPr/>
          <p:nvPr/>
        </p:nvSpPr>
        <p:spPr>
          <a:xfrm>
            <a:off x="1141222" y="3136900"/>
            <a:ext cx="2858872" cy="1314450"/>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2F4A41"/>
                </a:solidFill>
                <a:latin typeface="Nunito" pitchFamily="34" charset="0"/>
                <a:ea typeface="Nunito" pitchFamily="34" charset="-122"/>
                <a:cs typeface="Nunito" pitchFamily="34" charset="-120"/>
              </a:rPr>
              <a:t>Mã người dùng</a:t>
            </a:r>
            <a:endParaRPr lang="en-US" sz="1400" dirty="0"/>
          </a:p>
          <a:p>
            <a:pPr algn="l" marL="169418" indent="-169418">
              <a:lnSpc>
                <a:spcPts val="2030"/>
              </a:lnSpc>
              <a:buSzPct val="100000"/>
              <a:buChar char="•"/>
            </a:pPr>
            <a:r>
              <a:rPr lang="en-US" sz="1400" dirty="0">
                <a:solidFill>
                  <a:srgbClr val="2F4A41"/>
                </a:solidFill>
                <a:latin typeface="Nunito" pitchFamily="34" charset="0"/>
                <a:ea typeface="Nunito" pitchFamily="34" charset="-122"/>
                <a:cs typeface="Nunito" pitchFamily="34" charset="-120"/>
              </a:rPr>
              <a:t>Tuổi</a:t>
            </a:r>
            <a:endParaRPr lang="en-US" sz="1400" dirty="0"/>
          </a:p>
          <a:p>
            <a:pPr algn="l" marL="169418" indent="-169418">
              <a:lnSpc>
                <a:spcPts val="2030"/>
              </a:lnSpc>
              <a:buSzPct val="100000"/>
              <a:buChar char="•"/>
            </a:pPr>
            <a:r>
              <a:rPr lang="en-US" sz="1400" dirty="0">
                <a:solidFill>
                  <a:srgbClr val="2F4A41"/>
                </a:solidFill>
                <a:latin typeface="Nunito" pitchFamily="34" charset="0"/>
                <a:ea typeface="Nunito" pitchFamily="34" charset="-122"/>
                <a:cs typeface="Nunito" pitchFamily="34" charset="-120"/>
              </a:rPr>
              <a:t>Chiều cao, cân nặng (nếu tự nguyện cung cấp)</a:t>
            </a:r>
            <a:endParaRPr lang="en-US" sz="1400" dirty="0"/>
          </a:p>
          <a:p>
            <a:pPr algn="l" marL="169418" indent="-169418">
              <a:lnSpc>
                <a:spcPts val="2030"/>
              </a:lnSpc>
              <a:buSzPct val="100000"/>
              <a:buChar char="•"/>
            </a:pPr>
            <a:r>
              <a:rPr lang="en-US" sz="1400" dirty="0">
                <a:solidFill>
                  <a:srgbClr val="2F4A41"/>
                </a:solidFill>
                <a:latin typeface="Nunito" pitchFamily="34" charset="0"/>
                <a:ea typeface="Nunito" pitchFamily="34" charset="-122"/>
                <a:cs typeface="Nunito" pitchFamily="34" charset="-120"/>
              </a:rPr>
              <a:t>Mục tiêu sức khỏe</a:t>
            </a:r>
            <a:endParaRPr lang="en-US" sz="1400" dirty="0"/>
          </a:p>
        </p:txBody>
      </p:sp>
      <p:sp>
        <p:nvSpPr>
          <p:cNvPr id="10" name="Shape 6"/>
          <p:cNvSpPr/>
          <p:nvPr/>
        </p:nvSpPr>
        <p:spPr>
          <a:xfrm>
            <a:off x="4429125" y="2036446"/>
            <a:ext cx="3333750" cy="2623820"/>
          </a:xfrm>
          <a:prstGeom prst="roundRect">
            <a:avLst>
              <a:gd name="adj" fmla="val 5445"/>
            </a:avLst>
          </a:prstGeom>
          <a:solidFill>
            <a:srgbClr val="FFFFFF"/>
          </a:solidFill>
          <a:ln w="19050">
            <a:solidFill>
              <a:srgbClr val="0F2A22"/>
            </a:solidFill>
            <a:prstDash val="dash"/>
          </a:ln>
          <a:effectLst>
            <a:outerShdw sx="100000" sy="100000" kx="0" ky="0" algn="bl" rotWithShape="0" blurRad="0" dist="71842" dir="2700000">
              <a:srgbClr val="0F2A22">
                <a:alpha val="100000"/>
              </a:srgbClr>
            </a:outerShdw>
          </a:effectLst>
        </p:spPr>
      </p:sp>
      <p:sp>
        <p:nvSpPr>
          <p:cNvPr id="11" name="Text 7"/>
          <p:cNvSpPr/>
          <p:nvPr/>
        </p:nvSpPr>
        <p:spPr>
          <a:xfrm>
            <a:off x="4672965" y="2280289"/>
            <a:ext cx="1588214" cy="318770"/>
          </a:xfrm>
          <a:prstGeom prst="roundRect">
            <a:avLst>
              <a:gd name="adj" fmla="val 50000"/>
            </a:avLst>
          </a:prstGeom>
          <a:solidFill>
            <a:srgbClr val="8ED1FF"/>
          </a:solidFill>
          <a:ln w="19050">
            <a:solidFill>
              <a:srgbClr val="0F2A22"/>
            </a:solidFill>
            <a:prstDash val="solid"/>
          </a:ln>
        </p:spPr>
        <p:txBody>
          <a:bodyPr wrap="none" lIns="0" tIns="0" rIns="0" bIns="0" rtlCol="0" anchor="ctr">
            <a:normAutofit/>
          </a:bodyPr>
          <a:lstStyle/>
          <a:p>
            <a:pPr algn="ctr" indent="0" marL="0">
              <a:lnSpc>
                <a:spcPts val="1820"/>
              </a:lnSpc>
              <a:buNone/>
            </a:pPr>
            <a:r>
              <a:rPr lang="en-US" sz="1300" b="1" dirty="0">
                <a:solidFill>
                  <a:srgbClr val="0F2A22"/>
                </a:solidFill>
                <a:latin typeface="Nunito" pitchFamily="34" charset="0"/>
                <a:ea typeface="Nunito" pitchFamily="34" charset="-122"/>
                <a:cs typeface="Nunito" pitchFamily="34" charset="-120"/>
              </a:rPr>
              <a:t>Bảng 2 (đề xuất)</a:t>
            </a:r>
            <a:endParaRPr lang="en-US" sz="1300" dirty="0"/>
          </a:p>
        </p:txBody>
      </p:sp>
      <p:sp>
        <p:nvSpPr>
          <p:cNvPr id="12" name="Text 8"/>
          <p:cNvSpPr/>
          <p:nvPr/>
        </p:nvSpPr>
        <p:spPr>
          <a:xfrm>
            <a:off x="4663440" y="2735579"/>
            <a:ext cx="29510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22"/>
                </a:solidFill>
                <a:latin typeface="Fredoka" pitchFamily="34" charset="0"/>
                <a:ea typeface="Fredoka" pitchFamily="34" charset="-122"/>
                <a:cs typeface="Fredoka" pitchFamily="34" charset="-120"/>
              </a:rPr>
              <a:t>Nhật ký sinh hoạt</a:t>
            </a:r>
            <a:endParaRPr lang="en-US" sz="1800" dirty="0"/>
          </a:p>
        </p:txBody>
      </p:sp>
      <p:sp>
        <p:nvSpPr>
          <p:cNvPr id="13" name="Text 9"/>
          <p:cNvSpPr/>
          <p:nvPr/>
        </p:nvSpPr>
        <p:spPr>
          <a:xfrm>
            <a:off x="4748022" y="3136900"/>
            <a:ext cx="2858872" cy="1314450"/>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2F4A41"/>
                </a:solidFill>
                <a:latin typeface="Nunito" pitchFamily="34" charset="0"/>
                <a:ea typeface="Nunito" pitchFamily="34" charset="-122"/>
                <a:cs typeface="Nunito" pitchFamily="34" charset="-120"/>
              </a:rPr>
              <a:t>Ngày ghi nhận</a:t>
            </a:r>
            <a:endParaRPr lang="en-US" sz="1400" dirty="0"/>
          </a:p>
          <a:p>
            <a:pPr algn="l" marL="169418" indent="-169418">
              <a:lnSpc>
                <a:spcPts val="2030"/>
              </a:lnSpc>
              <a:buSzPct val="100000"/>
              <a:buChar char="•"/>
            </a:pPr>
            <a:r>
              <a:rPr lang="en-US" sz="1400" dirty="0">
                <a:solidFill>
                  <a:srgbClr val="2F4A41"/>
                </a:solidFill>
                <a:latin typeface="Nunito" pitchFamily="34" charset="0"/>
                <a:ea typeface="Nunito" pitchFamily="34" charset="-122"/>
                <a:cs typeface="Nunito" pitchFamily="34" charset="-120"/>
              </a:rPr>
              <a:t>Giờ ngủ, giờ thức dậy</a:t>
            </a:r>
            <a:endParaRPr lang="en-US" sz="1400" dirty="0"/>
          </a:p>
          <a:p>
            <a:pPr algn="l" marL="169418" indent="-169418">
              <a:lnSpc>
                <a:spcPts val="2030"/>
              </a:lnSpc>
              <a:buSzPct val="100000"/>
              <a:buChar char="•"/>
            </a:pPr>
            <a:r>
              <a:rPr lang="en-US" sz="1400" dirty="0">
                <a:solidFill>
                  <a:srgbClr val="2F4A41"/>
                </a:solidFill>
                <a:latin typeface="Nunito" pitchFamily="34" charset="0"/>
                <a:ea typeface="Nunito" pitchFamily="34" charset="-122"/>
                <a:cs typeface="Nunito" pitchFamily="34" charset="-120"/>
              </a:rPr>
              <a:t>Nước uống, bữa ăn</a:t>
            </a:r>
            <a:endParaRPr lang="en-US" sz="1400" dirty="0"/>
          </a:p>
          <a:p>
            <a:pPr algn="l" marL="169418" indent="-169418">
              <a:lnSpc>
                <a:spcPts val="2030"/>
              </a:lnSpc>
              <a:buSzPct val="100000"/>
              <a:buChar char="•"/>
            </a:pPr>
            <a:r>
              <a:rPr lang="en-US" sz="1400" dirty="0">
                <a:solidFill>
                  <a:srgbClr val="2F4A41"/>
                </a:solidFill>
                <a:latin typeface="Nunito" pitchFamily="34" charset="0"/>
                <a:ea typeface="Nunito" pitchFamily="34" charset="-122"/>
                <a:cs typeface="Nunito" pitchFamily="34" charset="-120"/>
              </a:rPr>
              <a:t>Tâm trạng</a:t>
            </a:r>
            <a:endParaRPr lang="en-US" sz="1400" dirty="0"/>
          </a:p>
          <a:p>
            <a:pPr algn="l" marL="169418" indent="-169418">
              <a:lnSpc>
                <a:spcPts val="2030"/>
              </a:lnSpc>
              <a:buSzPct val="100000"/>
              <a:buChar char="•"/>
            </a:pPr>
            <a:r>
              <a:rPr lang="en-US" sz="1400" dirty="0">
                <a:solidFill>
                  <a:srgbClr val="2F4A41"/>
                </a:solidFill>
                <a:latin typeface="Nunito" pitchFamily="34" charset="0"/>
                <a:ea typeface="Nunito" pitchFamily="34" charset="-122"/>
                <a:cs typeface="Nunito" pitchFamily="34" charset="-120"/>
              </a:rPr>
              <a:t>Thu nhập, chi tiêu</a:t>
            </a:r>
            <a:endParaRPr lang="en-US" sz="1400" dirty="0"/>
          </a:p>
        </p:txBody>
      </p:sp>
      <p:sp>
        <p:nvSpPr>
          <p:cNvPr id="14" name="Shape 10"/>
          <p:cNvSpPr/>
          <p:nvPr/>
        </p:nvSpPr>
        <p:spPr>
          <a:xfrm>
            <a:off x="8035925" y="2036446"/>
            <a:ext cx="3333750" cy="2623820"/>
          </a:xfrm>
          <a:prstGeom prst="roundRect">
            <a:avLst>
              <a:gd name="adj" fmla="val 5445"/>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15" name="Text 11"/>
          <p:cNvSpPr/>
          <p:nvPr/>
        </p:nvSpPr>
        <p:spPr>
          <a:xfrm>
            <a:off x="8279765" y="2280289"/>
            <a:ext cx="817086" cy="318770"/>
          </a:xfrm>
          <a:prstGeom prst="roundRect">
            <a:avLst>
              <a:gd name="adj" fmla="val 50000"/>
            </a:avLst>
          </a:prstGeom>
          <a:solidFill>
            <a:srgbClr val="C8F560"/>
          </a:solidFill>
          <a:ln w="19050">
            <a:solidFill>
              <a:srgbClr val="0F2A22"/>
            </a:solidFill>
            <a:prstDash val="solid"/>
          </a:ln>
        </p:spPr>
        <p:txBody>
          <a:bodyPr wrap="none" lIns="0" tIns="0" rIns="0" bIns="0" rtlCol="0" anchor="ctr">
            <a:normAutofit/>
          </a:bodyPr>
          <a:lstStyle/>
          <a:p>
            <a:pPr algn="ctr" indent="0" marL="0">
              <a:lnSpc>
                <a:spcPts val="1820"/>
              </a:lnSpc>
              <a:buNone/>
            </a:pPr>
            <a:r>
              <a:rPr lang="en-US" sz="1300" b="1" dirty="0">
                <a:solidFill>
                  <a:srgbClr val="0F2A22"/>
                </a:solidFill>
                <a:latin typeface="Nunito" pitchFamily="34" charset="0"/>
                <a:ea typeface="Nunito" pitchFamily="34" charset="-122"/>
                <a:cs typeface="Nunito" pitchFamily="34" charset="-120"/>
              </a:rPr>
              <a:t>Bảng 3</a:t>
            </a:r>
            <a:endParaRPr lang="en-US" sz="1300" dirty="0"/>
          </a:p>
        </p:txBody>
      </p:sp>
      <p:sp>
        <p:nvSpPr>
          <p:cNvPr id="16" name="Text 12"/>
          <p:cNvSpPr/>
          <p:nvPr/>
        </p:nvSpPr>
        <p:spPr>
          <a:xfrm>
            <a:off x="8270240" y="2735579"/>
            <a:ext cx="29510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F2A22"/>
                </a:solidFill>
                <a:latin typeface="Fredoka" pitchFamily="34" charset="0"/>
                <a:ea typeface="Fredoka" pitchFamily="34" charset="-122"/>
                <a:cs typeface="Fredoka" pitchFamily="34" charset="-120"/>
              </a:rPr>
              <a:t>Theo dõi tiến bộ</a:t>
            </a:r>
            <a:endParaRPr lang="en-US" sz="1800" dirty="0"/>
          </a:p>
        </p:txBody>
      </p:sp>
      <p:sp>
        <p:nvSpPr>
          <p:cNvPr id="17" name="Text 13"/>
          <p:cNvSpPr/>
          <p:nvPr/>
        </p:nvSpPr>
        <p:spPr>
          <a:xfrm>
            <a:off x="8354822" y="3136900"/>
            <a:ext cx="2858872" cy="1314450"/>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2F4A41"/>
                </a:solidFill>
                <a:latin typeface="Nunito" pitchFamily="34" charset="0"/>
                <a:ea typeface="Nunito" pitchFamily="34" charset="-122"/>
                <a:cs typeface="Nunito" pitchFamily="34" charset="-120"/>
              </a:rPr>
              <a:t>Ngày thống kê</a:t>
            </a:r>
            <a:endParaRPr lang="en-US" sz="1400" dirty="0"/>
          </a:p>
          <a:p>
            <a:pPr algn="l" marL="169418" indent="-169418">
              <a:lnSpc>
                <a:spcPts val="2030"/>
              </a:lnSpc>
              <a:buSzPct val="100000"/>
              <a:buChar char="•"/>
            </a:pPr>
            <a:r>
              <a:rPr lang="en-US" sz="1400" dirty="0">
                <a:solidFill>
                  <a:srgbClr val="2F4A41"/>
                </a:solidFill>
                <a:latin typeface="Nunito" pitchFamily="34" charset="0"/>
                <a:ea typeface="Nunito" pitchFamily="34" charset="-122"/>
                <a:cs typeface="Nunito" pitchFamily="34" charset="-120"/>
              </a:rPr>
              <a:t>Điểm thói quen sức khỏe</a:t>
            </a:r>
            <a:endParaRPr lang="en-US" sz="1400" dirty="0"/>
          </a:p>
          <a:p>
            <a:pPr algn="l" marL="169418" indent="-169418">
              <a:lnSpc>
                <a:spcPts val="2030"/>
              </a:lnSpc>
              <a:buSzPct val="100000"/>
              <a:buChar char="•"/>
            </a:pPr>
            <a:r>
              <a:rPr lang="en-US" sz="1400" dirty="0">
                <a:solidFill>
                  <a:srgbClr val="2F4A41"/>
                </a:solidFill>
                <a:latin typeface="Nunito" pitchFamily="34" charset="0"/>
                <a:ea typeface="Nunito" pitchFamily="34" charset="-122"/>
                <a:cs typeface="Nunito" pitchFamily="34" charset="-120"/>
              </a:rPr>
              <a:t>Mức độ hoàn thành mục tiêu</a:t>
            </a:r>
            <a:endParaRPr lang="en-US" sz="1400" dirty="0"/>
          </a:p>
          <a:p>
            <a:pPr algn="l" marL="169418" indent="-169418">
              <a:lnSpc>
                <a:spcPts val="2030"/>
              </a:lnSpc>
              <a:buSzPct val="100000"/>
              <a:buChar char="•"/>
            </a:pPr>
            <a:r>
              <a:rPr lang="en-US" sz="1400" dirty="0">
                <a:solidFill>
                  <a:srgbClr val="2F4A41"/>
                </a:solidFill>
                <a:latin typeface="Nunito" pitchFamily="34" charset="0"/>
                <a:ea typeface="Nunito" pitchFamily="34" charset="-122"/>
                <a:cs typeface="Nunito" pitchFamily="34" charset="-120"/>
              </a:rPr>
              <a:t>Tổng chi tiêu</a:t>
            </a:r>
            <a:endParaRPr lang="en-US" sz="1400" dirty="0"/>
          </a:p>
          <a:p>
            <a:pPr algn="l" marL="169418" indent="-169418">
              <a:lnSpc>
                <a:spcPts val="2030"/>
              </a:lnSpc>
              <a:buSzPct val="100000"/>
              <a:buChar char="•"/>
            </a:pPr>
            <a:r>
              <a:rPr lang="en-US" sz="1400" dirty="0">
                <a:solidFill>
                  <a:srgbClr val="2F4A41"/>
                </a:solidFill>
                <a:latin typeface="Nunito" pitchFamily="34" charset="0"/>
                <a:ea typeface="Nunito" pitchFamily="34" charset="-122"/>
                <a:cs typeface="Nunito" pitchFamily="34" charset="-120"/>
              </a:rPr>
              <a:t>Thời gian sử dụng</a:t>
            </a:r>
            <a:endParaRPr lang="en-US" sz="1400" dirty="0"/>
          </a:p>
        </p:txBody>
      </p:sp>
      <p:sp>
        <p:nvSpPr>
          <p:cNvPr id="18" name="Text 14"/>
          <p:cNvSpPr/>
          <p:nvPr/>
        </p:nvSpPr>
        <p:spPr>
          <a:xfrm>
            <a:off x="495808" y="6238242"/>
            <a:ext cx="1088339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F4A41"/>
                </a:solidFill>
                <a:latin typeface="Nunito" pitchFamily="34" charset="0"/>
                <a:ea typeface="Nunito" pitchFamily="34" charset="-122"/>
                <a:cs typeface="Nunito" pitchFamily="34" charset="-120"/>
              </a:rPr>
              <a:t>Nhóm 6 | 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DF1FF"/>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0363200" y="812800"/>
            <a:ext cx="1016000" cy="1016000"/>
          </a:xfrm>
          <a:prstGeom prst="rect">
            <a:avLst/>
          </a:prstGeom>
        </p:spPr>
      </p:pic>
      <p:pic>
        <p:nvPicPr>
          <p:cNvPr id="3" name="Image 1" descr="Chart">    </p:cNvPr>
          <p:cNvPicPr>
            <a:picLocks noChangeAspect="1"/>
          </p:cNvPicPr>
          <p:nvPr/>
        </p:nvPicPr>
        <p:blipFill>
          <a:blip r:embed="rId2"/>
          <a:srcRect l="0" r="0" t="0" b="0"/>
          <a:stretch/>
        </p:blipFill>
        <p:spPr>
          <a:xfrm>
            <a:off x="10591800" y="1041400"/>
            <a:ext cx="558800" cy="558800"/>
          </a:xfrm>
          <a:prstGeom prst="rect">
            <a:avLst/>
          </a:prstGeom>
        </p:spPr>
      </p:pic>
      <p:sp>
        <p:nvSpPr>
          <p:cNvPr id="4" name="Text 0"/>
          <p:cNvSpPr/>
          <p:nvPr/>
        </p:nvSpPr>
        <p:spPr>
          <a:xfrm rot="21480000">
            <a:off x="821611" y="822326"/>
            <a:ext cx="895350" cy="336550"/>
          </a:xfrm>
          <a:custGeom>
            <a:avLst/>
            <a:gdLst/>
            <a:ahLst/>
            <a:cxnLst/>
            <a:rect l="l" t="t" r="r" b="b"/>
            <a:pathLst>
              <a:path w="895350" h="336550">
                <a:moveTo>
                  <a:pt x="168275" y="0"/>
                </a:moveTo>
                <a:lnTo>
                  <a:pt x="727075" y="0"/>
                </a:lnTo>
                <a:arcTo hR="168275" wR="168275" stAng="16200000" swAng="5400000"/>
                <a:lnTo>
                  <a:pt x="895350" y="168275"/>
                </a:lnTo>
                <a:arcTo hR="168275" wR="168275" stAng="0" swAng="5400000"/>
                <a:lnTo>
                  <a:pt x="168275" y="336550"/>
                </a:lnTo>
                <a:arcTo hR="168275" wR="168275" stAng="5400000" swAng="5400000"/>
                <a:lnTo>
                  <a:pt x="0" y="168275"/>
                </a:lnTo>
                <a:arcTo hR="168275" wR="168275" stAng="10800000" swAng="5400000"/>
                <a:close/>
              </a:path>
            </a:pathLst>
          </a:custGeom>
          <a:solidFill>
            <a:srgbClr val="C8F560"/>
          </a:solidFill>
          <a:ln w="19050">
            <a:solidFill>
              <a:srgbClr val="0F2A22"/>
            </a:solidFill>
            <a:prstDash val="solid"/>
          </a:ln>
        </p:spPr>
        <p:txBody>
          <a:bodyPr wrap="none" lIns="0" tIns="0" rIns="0" bIns="0" rtlCol="0" anchor="ctr">
            <a:normAutofit/>
          </a:bodyPr>
          <a:lstStyle/>
          <a:p>
            <a:pPr algn="ctr" indent="0" marL="0">
              <a:lnSpc>
                <a:spcPts val="1960"/>
              </a:lnSpc>
              <a:buNone/>
            </a:pPr>
            <a:r>
              <a:rPr lang="en-US" sz="1400" b="1" dirty="0">
                <a:solidFill>
                  <a:srgbClr val="0F2A22"/>
                </a:solidFill>
                <a:latin typeface="Nunito" pitchFamily="34" charset="0"/>
                <a:ea typeface="Nunito" pitchFamily="34" charset="-122"/>
                <a:cs typeface="Nunito" pitchFamily="34" charset="-120"/>
              </a:rPr>
              <a:t>Số liệu</a:t>
            </a:r>
            <a:endParaRPr lang="en-US" sz="1400" dirty="0"/>
          </a:p>
        </p:txBody>
      </p:sp>
      <p:sp>
        <p:nvSpPr>
          <p:cNvPr id="5" name="Text 1"/>
          <p:cNvSpPr/>
          <p:nvPr>
            <p:ph type="title"/>
          </p:nvPr>
        </p:nvSpPr>
        <p:spPr>
          <a:xfrm>
            <a:off x="812800" y="1270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A22"/>
                </a:solidFill>
                <a:latin typeface="Fredoka" pitchFamily="34" charset="0"/>
                <a:ea typeface="Fredoka" pitchFamily="34" charset="-122"/>
                <a:cs typeface="Fredoka" pitchFamily="34" charset="-120"/>
              </a:rPr>
              <a:t>Trước vs sau khi dùng app</a:t>
            </a:r>
            <a:endParaRPr lang="en-US" sz="3600" dirty="0"/>
          </a:p>
        </p:txBody>
      </p:sp>
      <p:sp>
        <p:nvSpPr>
          <p:cNvPr id="6" name="Shape 2"/>
          <p:cNvSpPr/>
          <p:nvPr/>
        </p:nvSpPr>
        <p:spPr>
          <a:xfrm>
            <a:off x="812800" y="2001521"/>
            <a:ext cx="10566400" cy="2486660"/>
          </a:xfrm>
          <a:custGeom>
            <a:avLst/>
            <a:gdLst/>
            <a:ahLst/>
            <a:cxnLst/>
            <a:rect l="l" t="t" r="r" b="b"/>
            <a:pathLst>
              <a:path w="10566400" h="2486660">
                <a:moveTo>
                  <a:pt x="10439400" y="0"/>
                </a:moveTo>
                <a:lnTo>
                  <a:pt x="10439400" y="0"/>
                </a:lnTo>
                <a:arcTo hR="127000" wR="127000" stAng="16200000" swAng="5400000"/>
                <a:lnTo>
                  <a:pt x="10566400" y="2359660"/>
                </a:lnTo>
                <a:arcTo hR="127000" wR="127000" stAng="0" swAng="5400000"/>
                <a:lnTo>
                  <a:pt x="127000" y="2486660"/>
                </a:lnTo>
                <a:arcTo hR="127000" wR="127000" stAng="5400000" swAng="5400000"/>
                <a:lnTo>
                  <a:pt x="0" y="2359660"/>
                </a:lnTo>
                <a:arcTo hR="107950" wR="127000" stAng="10800000" swAng="-5400000"/>
                <a:lnTo>
                  <a:pt x="10439400" y="2467610"/>
                </a:lnTo>
                <a:arcTo hR="107950" wR="107950" stAng="5400000" swAng="-5400000"/>
                <a:lnTo>
                  <a:pt x="10547350" y="127000"/>
                </a:lnTo>
                <a:arcTo hR="127000" wR="107950" stAng="0" swAng="-5400000"/>
                <a:close/>
              </a:path>
            </a:pathLst>
          </a:custGeom>
          <a:solidFill>
            <a:srgbClr val="0F2A22"/>
          </a:solidFill>
          <a:ln/>
        </p:spPr>
      </p:sp>
      <p:sp>
        <p:nvSpPr>
          <p:cNvPr id="7" name="Shape 3"/>
          <p:cNvSpPr/>
          <p:nvPr/>
        </p:nvSpPr>
        <p:spPr>
          <a:xfrm>
            <a:off x="812800" y="2001521"/>
            <a:ext cx="10566400" cy="2486660"/>
          </a:xfrm>
          <a:custGeom>
            <a:avLst/>
            <a:gdLst/>
            <a:ahLst/>
            <a:cxnLst/>
            <a:rect l="l" t="t" r="r" b="b"/>
            <a:pathLst>
              <a:path w="10566400" h="2486660">
                <a:moveTo>
                  <a:pt x="127000" y="2486660"/>
                </a:moveTo>
                <a:lnTo>
                  <a:pt x="127000" y="2486660"/>
                </a:lnTo>
                <a:arcTo hR="127000" wR="127000" stAng="5400000" swAng="5400000"/>
                <a:lnTo>
                  <a:pt x="0" y="127000"/>
                </a:lnTo>
                <a:arcTo hR="127000" wR="127000" stAng="10800000" swAng="5400000"/>
                <a:lnTo>
                  <a:pt x="10439400" y="0"/>
                </a:lnTo>
                <a:arcTo hR="127000" wR="127000" stAng="16200000" swAng="5400000"/>
                <a:lnTo>
                  <a:pt x="10566400" y="127000"/>
                </a:lnTo>
                <a:arcTo hR="116840" wR="127000" stAng="0" swAng="-5400000"/>
                <a:lnTo>
                  <a:pt x="127000" y="10160"/>
                </a:lnTo>
                <a:arcTo hR="116840" wR="116840" stAng="16200000" swAng="-5400000"/>
                <a:lnTo>
                  <a:pt x="10160" y="2359660"/>
                </a:lnTo>
                <a:arcTo hR="127000" wR="116840" stAng="10800000" swAng="-5400000"/>
                <a:close/>
              </a:path>
            </a:pathLst>
          </a:custGeom>
          <a:solidFill>
            <a:srgbClr val="141413">
              <a:alpha val="22000"/>
            </a:srgbClr>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2011681"/>
          <a:ext cx="10541000" cy="2461260"/>
        </p:xfrm>
        <a:graphic>
          <a:graphicData uri="http://schemas.openxmlformats.org/drawingml/2006/table">
            <a:tbl>
              <a:tblPr/>
              <a:tblGrid>
                <a:gridCol w="3373120"/>
                <a:gridCol w="2108200"/>
                <a:gridCol w="2108200"/>
                <a:gridCol w="2951480"/>
              </a:tblGrid>
              <a:tr h="410210">
                <a:tc>
                  <a:txBody>
                    <a:bodyPr/>
                    <a:lstStyle/>
                    <a:p>
                      <a:pPr indent="0" marL="0">
                        <a:lnSpc>
                          <a:spcPts val="2100"/>
                        </a:lnSpc>
                        <a:buNone/>
                      </a:pPr>
                      <a:r>
                        <a:rPr lang="en-US" sz="1500" b="1" dirty="0">
                          <a:solidFill>
                            <a:srgbClr val="C8F560"/>
                          </a:solidFill>
                          <a:latin typeface="Nunito" pitchFamily="34" charset="0"/>
                          <a:ea typeface="Nunito" pitchFamily="34" charset="-122"/>
                          <a:cs typeface="Nunito" pitchFamily="34" charset="-120"/>
                        </a:rPr>
                        <a:t>Chỉ số</a:t>
                      </a:r>
                      <a:endParaRPr lang="en-US" sz="1500" dirty="0">
                        <a:latin typeface="Nunito" charset="0"/>
                        <a:ea typeface="Nunito" charset="0"/>
                        <a:cs typeface="Nunito" charset="0"/>
                      </a:endParaRPr>
                    </a:p>
                  </a:txBody>
                  <a:tcPr marL="66675" marR="66675" marT="66675" marB="66675" anchor="t">
                    <a:lnL w="0" cap="flat" cmpd="sng" algn="ctr">
                      <a:noFill/>
                    </a:lnL>
                    <a:lnR w="12700" cap="flat" cmpd="sng" algn="ctr">
                      <a:solidFill>
                        <a:srgbClr val="10251F"/>
                      </a:solidFill>
                      <a:prstDash val="solid"/>
                      <a:round/>
                      <a:headEnd type="none" w="med" len="med"/>
                      <a:tailEnd type="none" w="med" len="med"/>
                    </a:lnR>
                    <a:lnT w="0" cap="flat" cmpd="sng" algn="ctr">
                      <a:noFill/>
                    </a:lnT>
                    <a:lnB w="12700" cap="flat" cmpd="sng" algn="ctr">
                      <a:solidFill>
                        <a:srgbClr val="10251F"/>
                      </a:solidFill>
                      <a:prstDash val="solid"/>
                      <a:round/>
                      <a:headEnd type="none" w="med" len="med"/>
                      <a:tailEnd type="none" w="med" len="med"/>
                    </a:lnB>
                    <a:solidFill>
                      <a:srgbClr val="0F2A22"/>
                    </a:solidFill>
                  </a:tcPr>
                </a:tc>
                <a:tc>
                  <a:txBody>
                    <a:bodyPr/>
                    <a:lstStyle/>
                    <a:p>
                      <a:pPr indent="0" marL="0">
                        <a:lnSpc>
                          <a:spcPts val="2100"/>
                        </a:lnSpc>
                        <a:buNone/>
                      </a:pPr>
                      <a:r>
                        <a:rPr lang="en-US" sz="1500" b="1" dirty="0">
                          <a:solidFill>
                            <a:srgbClr val="C8F560"/>
                          </a:solidFill>
                          <a:latin typeface="Nunito" pitchFamily="34" charset="0"/>
                          <a:ea typeface="Nunito" pitchFamily="34" charset="-122"/>
                          <a:cs typeface="Nunito" pitchFamily="34" charset="-120"/>
                        </a:rPr>
                        <a:t>Trước app</a:t>
                      </a:r>
                      <a:endParaRPr lang="en-US" sz="1500" dirty="0">
                        <a:latin typeface="Nunito" charset="0"/>
                        <a:ea typeface="Nunito" charset="0"/>
                        <a:cs typeface="Nunito" charset="0"/>
                      </a:endParaRPr>
                    </a:p>
                  </a:txBody>
                  <a:tcPr marL="66675" marR="66675" marT="66675" marB="66675" anchor="t">
                    <a:lnL w="12700" cap="flat" cmpd="sng" algn="ctr">
                      <a:solidFill>
                        <a:srgbClr val="10251F"/>
                      </a:solidFill>
                      <a:prstDash val="solid"/>
                      <a:round/>
                      <a:headEnd type="none" w="med" len="med"/>
                      <a:tailEnd type="none" w="med" len="med"/>
                    </a:lnL>
                    <a:lnR w="12700" cap="flat" cmpd="sng" algn="ctr">
                      <a:solidFill>
                        <a:srgbClr val="10251F"/>
                      </a:solidFill>
                      <a:prstDash val="solid"/>
                      <a:round/>
                      <a:headEnd type="none" w="med" len="med"/>
                      <a:tailEnd type="none" w="med" len="med"/>
                    </a:lnR>
                    <a:lnT w="0" cap="flat" cmpd="sng" algn="ctr">
                      <a:noFill/>
                    </a:lnT>
                    <a:lnB w="12700" cap="flat" cmpd="sng" algn="ctr">
                      <a:solidFill>
                        <a:srgbClr val="10251F"/>
                      </a:solidFill>
                      <a:prstDash val="solid"/>
                      <a:round/>
                      <a:headEnd type="none" w="med" len="med"/>
                      <a:tailEnd type="none" w="med" len="med"/>
                    </a:lnB>
                    <a:solidFill>
                      <a:srgbClr val="0F2A22"/>
                    </a:solidFill>
                  </a:tcPr>
                </a:tc>
                <a:tc>
                  <a:txBody>
                    <a:bodyPr/>
                    <a:lstStyle/>
                    <a:p>
                      <a:pPr indent="0" marL="0">
                        <a:lnSpc>
                          <a:spcPts val="2100"/>
                        </a:lnSpc>
                        <a:buNone/>
                      </a:pPr>
                      <a:r>
                        <a:rPr lang="en-US" sz="1500" b="1" dirty="0">
                          <a:solidFill>
                            <a:srgbClr val="C8F560"/>
                          </a:solidFill>
                          <a:latin typeface="Nunito" pitchFamily="34" charset="0"/>
                          <a:ea typeface="Nunito" pitchFamily="34" charset="-122"/>
                          <a:cs typeface="Nunito" pitchFamily="34" charset="-120"/>
                        </a:rPr>
                        <a:t>Sau app</a:t>
                      </a:r>
                      <a:endParaRPr lang="en-US" sz="1500" dirty="0">
                        <a:latin typeface="Nunito" charset="0"/>
                        <a:ea typeface="Nunito" charset="0"/>
                        <a:cs typeface="Nunito" charset="0"/>
                      </a:endParaRPr>
                    </a:p>
                  </a:txBody>
                  <a:tcPr marL="66675" marR="66675" marT="66675" marB="66675" anchor="t">
                    <a:lnL w="12700" cap="flat" cmpd="sng" algn="ctr">
                      <a:solidFill>
                        <a:srgbClr val="10251F"/>
                      </a:solidFill>
                      <a:prstDash val="solid"/>
                      <a:round/>
                      <a:headEnd type="none" w="med" len="med"/>
                      <a:tailEnd type="none" w="med" len="med"/>
                    </a:lnL>
                    <a:lnR w="12700" cap="flat" cmpd="sng" algn="ctr">
                      <a:solidFill>
                        <a:srgbClr val="10251F"/>
                      </a:solidFill>
                      <a:prstDash val="solid"/>
                      <a:round/>
                      <a:headEnd type="none" w="med" len="med"/>
                      <a:tailEnd type="none" w="med" len="med"/>
                    </a:lnR>
                    <a:lnT w="0" cap="flat" cmpd="sng" algn="ctr">
                      <a:noFill/>
                    </a:lnT>
                    <a:lnB w="12700" cap="flat" cmpd="sng" algn="ctr">
                      <a:solidFill>
                        <a:srgbClr val="10251F"/>
                      </a:solidFill>
                      <a:prstDash val="solid"/>
                      <a:round/>
                      <a:headEnd type="none" w="med" len="med"/>
                      <a:tailEnd type="none" w="med" len="med"/>
                    </a:lnB>
                    <a:solidFill>
                      <a:srgbClr val="0F2A22"/>
                    </a:solidFill>
                  </a:tcPr>
                </a:tc>
                <a:tc>
                  <a:txBody>
                    <a:bodyPr/>
                    <a:lstStyle/>
                    <a:p>
                      <a:pPr indent="0" marL="0">
                        <a:lnSpc>
                          <a:spcPts val="2100"/>
                        </a:lnSpc>
                        <a:buNone/>
                      </a:pPr>
                      <a:r>
                        <a:rPr lang="en-US" sz="1500" b="1" dirty="0">
                          <a:solidFill>
                            <a:srgbClr val="C8F560"/>
                          </a:solidFill>
                          <a:latin typeface="Nunito" pitchFamily="34" charset="0"/>
                          <a:ea typeface="Nunito" pitchFamily="34" charset="-122"/>
                          <a:cs typeface="Nunito" pitchFamily="34" charset="-120"/>
                        </a:rPr>
                        <a:t>Thay đổi</a:t>
                      </a:r>
                      <a:endParaRPr lang="en-US" sz="1500" dirty="0">
                        <a:latin typeface="Nunito" charset="0"/>
                        <a:ea typeface="Nunito" charset="0"/>
                        <a:cs typeface="Nunito" charset="0"/>
                      </a:endParaRPr>
                    </a:p>
                  </a:txBody>
                  <a:tcPr marL="66675" marR="66675" marT="66675" marB="66675" anchor="t">
                    <a:lnL w="12700" cap="flat" cmpd="sng" algn="ctr">
                      <a:solidFill>
                        <a:srgbClr val="10251F"/>
                      </a:solidFill>
                      <a:prstDash val="solid"/>
                      <a:round/>
                      <a:headEnd type="none" w="med" len="med"/>
                      <a:tailEnd type="none" w="med" len="med"/>
                    </a:lnL>
                    <a:lnR w="12700" cap="flat" cmpd="sng" algn="ctr">
                      <a:solidFill>
                        <a:srgbClr val="10251F"/>
                      </a:solidFill>
                      <a:prstDash val="solid"/>
                      <a:round/>
                      <a:headEnd type="none" w="med" len="med"/>
                      <a:tailEnd type="none" w="med" len="med"/>
                    </a:lnR>
                    <a:lnT w="0" cap="flat" cmpd="sng" algn="ctr">
                      <a:noFill/>
                    </a:lnT>
                    <a:lnB w="12700" cap="flat" cmpd="sng" algn="ctr">
                      <a:solidFill>
                        <a:srgbClr val="10251F"/>
                      </a:solidFill>
                      <a:prstDash val="solid"/>
                      <a:round/>
                      <a:headEnd type="none" w="med" len="med"/>
                      <a:tailEnd type="none" w="med" len="med"/>
                    </a:lnB>
                    <a:solidFill>
                      <a:srgbClr val="0F2A22"/>
                    </a:solidFill>
                  </a:tcPr>
                </a:tc>
              </a:tr>
              <a:tr h="410210">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Thời gian ngủ</a:t>
                      </a:r>
                      <a:endParaRPr lang="en-US" sz="1500" dirty="0">
                        <a:latin typeface="Nunito" charset="0"/>
                        <a:ea typeface="Nunito" charset="0"/>
                        <a:cs typeface="Nunito"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0251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6 giờ/ngày</a:t>
                      </a:r>
                      <a:endParaRPr lang="en-US" sz="1500" dirty="0">
                        <a:latin typeface="Nunito" charset="0"/>
                        <a:ea typeface="Nunito" charset="0"/>
                        <a:cs typeface="Nun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0251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7,5 giờ/ngày</a:t>
                      </a:r>
                      <a:endParaRPr lang="en-US" sz="1500" dirty="0">
                        <a:latin typeface="Nunito" charset="0"/>
                        <a:ea typeface="Nunito" charset="0"/>
                        <a:cs typeface="Nun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0251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Tăng 1,5 giờ/ngày</a:t>
                      </a:r>
                      <a:endParaRPr lang="en-US" sz="1500" dirty="0">
                        <a:latin typeface="Nunito" charset="0"/>
                        <a:ea typeface="Nunito" charset="0"/>
                        <a:cs typeface="Nun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0251F"/>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0210">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Uống nước</a:t>
                      </a:r>
                      <a:endParaRPr lang="en-US" sz="1500" dirty="0">
                        <a:latin typeface="Nunito" charset="0"/>
                        <a:ea typeface="Nunito" charset="0"/>
                        <a:cs typeface="Nunito" charset="0"/>
                      </a:endParaRPr>
                    </a:p>
                  </a:txBody>
                  <a:tcPr marL="66675" marR="66675" marT="66675" marB="66675" anchor="t">
                    <a:lnL w="0" cap="flat" cmpd="sng" algn="ctr">
                      <a:noFill/>
                    </a:lnL>
                    <a:lnR w="12700" cap="flat" cmpd="sng" algn="ctr">
                      <a:solidFill>
                        <a:srgbClr val="BBC6A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6A8"/>
                      </a:solidFill>
                      <a:prstDash val="solid"/>
                      <a:round/>
                      <a:headEnd type="none" w="med" len="med"/>
                      <a:tailEnd type="none" w="med" len="med"/>
                    </a:lnB>
                    <a:solidFill>
                      <a:srgbClr val="EAF8D2"/>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1 lít/ngày</a:t>
                      </a:r>
                      <a:endParaRPr lang="en-US" sz="1500" dirty="0">
                        <a:latin typeface="Nunito" charset="0"/>
                        <a:ea typeface="Nunito" charset="0"/>
                        <a:cs typeface="Nunito" charset="0"/>
                      </a:endParaRPr>
                    </a:p>
                  </a:txBody>
                  <a:tcPr marL="66675" marR="66675" marT="66675" marB="66675" anchor="t">
                    <a:lnL w="12700" cap="flat" cmpd="sng" algn="ctr">
                      <a:solidFill>
                        <a:srgbClr val="BBC6A8"/>
                      </a:solidFill>
                      <a:prstDash val="solid"/>
                      <a:round/>
                      <a:headEnd type="none" w="med" len="med"/>
                      <a:tailEnd type="none" w="med" len="med"/>
                    </a:lnL>
                    <a:lnR w="12700" cap="flat" cmpd="sng" algn="ctr">
                      <a:solidFill>
                        <a:srgbClr val="BBC6A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6A8"/>
                      </a:solidFill>
                      <a:prstDash val="solid"/>
                      <a:round/>
                      <a:headEnd type="none" w="med" len="med"/>
                      <a:tailEnd type="none" w="med" len="med"/>
                    </a:lnB>
                    <a:solidFill>
                      <a:srgbClr val="EAF8D2"/>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1,8 lít/ngày</a:t>
                      </a:r>
                      <a:endParaRPr lang="en-US" sz="1500" dirty="0">
                        <a:latin typeface="Nunito" charset="0"/>
                        <a:ea typeface="Nunito" charset="0"/>
                        <a:cs typeface="Nunito" charset="0"/>
                      </a:endParaRPr>
                    </a:p>
                  </a:txBody>
                  <a:tcPr marL="66675" marR="66675" marT="66675" marB="66675" anchor="t">
                    <a:lnL w="12700" cap="flat" cmpd="sng" algn="ctr">
                      <a:solidFill>
                        <a:srgbClr val="BBC6A8"/>
                      </a:solidFill>
                      <a:prstDash val="solid"/>
                      <a:round/>
                      <a:headEnd type="none" w="med" len="med"/>
                      <a:tailEnd type="none" w="med" len="med"/>
                    </a:lnL>
                    <a:lnR w="12700" cap="flat" cmpd="sng" algn="ctr">
                      <a:solidFill>
                        <a:srgbClr val="BBC6A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6A8"/>
                      </a:solidFill>
                      <a:prstDash val="solid"/>
                      <a:round/>
                      <a:headEnd type="none" w="med" len="med"/>
                      <a:tailEnd type="none" w="med" len="med"/>
                    </a:lnB>
                    <a:solidFill>
                      <a:srgbClr val="EAF8D2"/>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Tăng 0,8 lít/ngày</a:t>
                      </a:r>
                      <a:endParaRPr lang="en-US" sz="1500" dirty="0">
                        <a:latin typeface="Nunito" charset="0"/>
                        <a:ea typeface="Nunito" charset="0"/>
                        <a:cs typeface="Nunito" charset="0"/>
                      </a:endParaRPr>
                    </a:p>
                  </a:txBody>
                  <a:tcPr marL="66675" marR="66675" marT="66675" marB="66675" anchor="t">
                    <a:lnL w="12700" cap="flat" cmpd="sng" algn="ctr">
                      <a:solidFill>
                        <a:srgbClr val="BBC6A8"/>
                      </a:solidFill>
                      <a:prstDash val="solid"/>
                      <a:round/>
                      <a:headEnd type="none" w="med" len="med"/>
                      <a:tailEnd type="none" w="med" len="med"/>
                    </a:lnL>
                    <a:lnR w="12700" cap="flat" cmpd="sng" algn="ctr">
                      <a:solidFill>
                        <a:srgbClr val="BBC6A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6A8"/>
                      </a:solidFill>
                      <a:prstDash val="solid"/>
                      <a:round/>
                      <a:headEnd type="none" w="med" len="med"/>
                      <a:tailEnd type="none" w="med" len="med"/>
                    </a:lnB>
                    <a:solidFill>
                      <a:srgbClr val="EAF8D2"/>
                    </a:solidFill>
                  </a:tcPr>
                </a:tc>
              </a:tr>
              <a:tr h="410210">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Vận động</a:t>
                      </a:r>
                      <a:endParaRPr lang="en-US" sz="1500" dirty="0">
                        <a:latin typeface="Nunito" charset="0"/>
                        <a:ea typeface="Nunito" charset="0"/>
                        <a:cs typeface="Nunito"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BC6A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15 phút/ngày</a:t>
                      </a:r>
                      <a:endParaRPr lang="en-US" sz="1500" dirty="0">
                        <a:latin typeface="Nunito" charset="0"/>
                        <a:ea typeface="Nunito" charset="0"/>
                        <a:cs typeface="Nun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6A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35 phút/ngày</a:t>
                      </a:r>
                      <a:endParaRPr lang="en-US" sz="1500" dirty="0">
                        <a:latin typeface="Nunito" charset="0"/>
                        <a:ea typeface="Nunito" charset="0"/>
                        <a:cs typeface="Nun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6A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Tăng 20 phút/ngày</a:t>
                      </a:r>
                      <a:endParaRPr lang="en-US" sz="1500" dirty="0">
                        <a:latin typeface="Nunito" charset="0"/>
                        <a:ea typeface="Nunito" charset="0"/>
                        <a:cs typeface="Nun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6A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10210">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Chi tiêu vượt kế hoạch</a:t>
                      </a:r>
                      <a:endParaRPr lang="en-US" sz="1500" dirty="0">
                        <a:latin typeface="Nunito" charset="0"/>
                        <a:ea typeface="Nunito" charset="0"/>
                        <a:cs typeface="Nunito" charset="0"/>
                      </a:endParaRPr>
                    </a:p>
                  </a:txBody>
                  <a:tcPr marL="66675" marR="66675" marT="66675" marB="66675" anchor="t">
                    <a:lnL w="0" cap="flat" cmpd="sng" algn="ctr">
                      <a:noFill/>
                    </a:lnL>
                    <a:lnR w="12700" cap="flat" cmpd="sng" algn="ctr">
                      <a:solidFill>
                        <a:srgbClr val="BBC6A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6A8"/>
                      </a:solidFill>
                      <a:prstDash val="solid"/>
                      <a:round/>
                      <a:headEnd type="none" w="med" len="med"/>
                      <a:tailEnd type="none" w="med" len="med"/>
                    </a:lnB>
                    <a:solidFill>
                      <a:srgbClr val="EAF8D2"/>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5 ngày/tuần</a:t>
                      </a:r>
                      <a:endParaRPr lang="en-US" sz="1500" dirty="0">
                        <a:latin typeface="Nunito" charset="0"/>
                        <a:ea typeface="Nunito" charset="0"/>
                        <a:cs typeface="Nunito" charset="0"/>
                      </a:endParaRPr>
                    </a:p>
                  </a:txBody>
                  <a:tcPr marL="66675" marR="66675" marT="66675" marB="66675" anchor="t">
                    <a:lnL w="12700" cap="flat" cmpd="sng" algn="ctr">
                      <a:solidFill>
                        <a:srgbClr val="BBC6A8"/>
                      </a:solidFill>
                      <a:prstDash val="solid"/>
                      <a:round/>
                      <a:headEnd type="none" w="med" len="med"/>
                      <a:tailEnd type="none" w="med" len="med"/>
                    </a:lnL>
                    <a:lnR w="12700" cap="flat" cmpd="sng" algn="ctr">
                      <a:solidFill>
                        <a:srgbClr val="BBC6A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6A8"/>
                      </a:solidFill>
                      <a:prstDash val="solid"/>
                      <a:round/>
                      <a:headEnd type="none" w="med" len="med"/>
                      <a:tailEnd type="none" w="med" len="med"/>
                    </a:lnB>
                    <a:solidFill>
                      <a:srgbClr val="EAF8D2"/>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2 ngày/tuần</a:t>
                      </a:r>
                      <a:endParaRPr lang="en-US" sz="1500" dirty="0">
                        <a:latin typeface="Nunito" charset="0"/>
                        <a:ea typeface="Nunito" charset="0"/>
                        <a:cs typeface="Nunito" charset="0"/>
                      </a:endParaRPr>
                    </a:p>
                  </a:txBody>
                  <a:tcPr marL="66675" marR="66675" marT="66675" marB="66675" anchor="t">
                    <a:lnL w="12700" cap="flat" cmpd="sng" algn="ctr">
                      <a:solidFill>
                        <a:srgbClr val="BBC6A8"/>
                      </a:solidFill>
                      <a:prstDash val="solid"/>
                      <a:round/>
                      <a:headEnd type="none" w="med" len="med"/>
                      <a:tailEnd type="none" w="med" len="med"/>
                    </a:lnL>
                    <a:lnR w="12700" cap="flat" cmpd="sng" algn="ctr">
                      <a:solidFill>
                        <a:srgbClr val="BBC6A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6A8"/>
                      </a:solidFill>
                      <a:prstDash val="solid"/>
                      <a:round/>
                      <a:headEnd type="none" w="med" len="med"/>
                      <a:tailEnd type="none" w="med" len="med"/>
                    </a:lnB>
                    <a:solidFill>
                      <a:srgbClr val="EAF8D2"/>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Giảm 3 ngày/tuần</a:t>
                      </a:r>
                      <a:endParaRPr lang="en-US" sz="1500" dirty="0">
                        <a:latin typeface="Nunito" charset="0"/>
                        <a:ea typeface="Nunito" charset="0"/>
                        <a:cs typeface="Nunito" charset="0"/>
                      </a:endParaRPr>
                    </a:p>
                  </a:txBody>
                  <a:tcPr marL="66675" marR="66675" marT="66675" marB="66675" anchor="t">
                    <a:lnL w="12700" cap="flat" cmpd="sng" algn="ctr">
                      <a:solidFill>
                        <a:srgbClr val="BBC6A8"/>
                      </a:solidFill>
                      <a:prstDash val="solid"/>
                      <a:round/>
                      <a:headEnd type="none" w="med" len="med"/>
                      <a:tailEnd type="none" w="med" len="med"/>
                    </a:lnL>
                    <a:lnR w="12700" cap="flat" cmpd="sng" algn="ctr">
                      <a:solidFill>
                        <a:srgbClr val="BBC6A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C6A8"/>
                      </a:solidFill>
                      <a:prstDash val="solid"/>
                      <a:round/>
                      <a:headEnd type="none" w="med" len="med"/>
                      <a:tailEnd type="none" w="med" len="med"/>
                    </a:lnB>
                    <a:solidFill>
                      <a:srgbClr val="EAF8D2"/>
                    </a:solidFill>
                  </a:tcPr>
                </a:tc>
              </a:tr>
              <a:tr h="410210">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Hoàn thành lịch học</a:t>
                      </a:r>
                      <a:endParaRPr lang="en-US" sz="1500" dirty="0">
                        <a:latin typeface="Nunito" charset="0"/>
                        <a:ea typeface="Nunito" charset="0"/>
                        <a:cs typeface="Nunito"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BC6A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60%</a:t>
                      </a:r>
                      <a:endParaRPr lang="en-US" sz="1500" dirty="0">
                        <a:latin typeface="Nunito" charset="0"/>
                        <a:ea typeface="Nunito" charset="0"/>
                        <a:cs typeface="Nun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6A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85%</a:t>
                      </a:r>
                      <a:endParaRPr lang="en-US" sz="1500" dirty="0">
                        <a:latin typeface="Nunito" charset="0"/>
                        <a:ea typeface="Nunito" charset="0"/>
                        <a:cs typeface="Nun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6A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0F2A22"/>
                          </a:solidFill>
                          <a:latin typeface="Nunito" pitchFamily="34" charset="0"/>
                          <a:ea typeface="Nunito" pitchFamily="34" charset="-122"/>
                          <a:cs typeface="Nunito" pitchFamily="34" charset="-120"/>
                        </a:rPr>
                        <a:t>Tăng 25 điểm phần trăm</a:t>
                      </a:r>
                      <a:endParaRPr lang="en-US" sz="1500" dirty="0">
                        <a:latin typeface="Nunito" charset="0"/>
                        <a:ea typeface="Nunito" charset="0"/>
                        <a:cs typeface="Nunito"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C6A8"/>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9" name="Shape 4"/>
          <p:cNvSpPr/>
          <p:nvPr/>
        </p:nvSpPr>
        <p:spPr>
          <a:xfrm>
            <a:off x="822325" y="4726304"/>
            <a:ext cx="10547350" cy="595630"/>
          </a:xfrm>
          <a:prstGeom prst="roundRect">
            <a:avLst>
              <a:gd name="adj" fmla="val 23987"/>
            </a:avLst>
          </a:prstGeom>
          <a:solidFill>
            <a:srgbClr val="FFE9A8"/>
          </a:solidFill>
          <a:ln w="19050">
            <a:solidFill>
              <a:srgbClr val="0F2A22"/>
            </a:solidFill>
            <a:prstDash val="solid"/>
          </a:ln>
          <a:effectLst>
            <a:outerShdw sx="100000" sy="100000" kx="0" ky="0" algn="bl" rotWithShape="0" blurRad="0" dist="71842" dir="2700000">
              <a:srgbClr val="0F2A22">
                <a:alpha val="100000"/>
              </a:srgbClr>
            </a:outerShdw>
          </a:effectLst>
        </p:spPr>
      </p:sp>
      <p:pic>
        <p:nvPicPr>
          <p:cNvPr id="10" name="Image 2" descr="Warning">    </p:cNvPr>
          <p:cNvPicPr>
            <a:picLocks noChangeAspect="1"/>
          </p:cNvPicPr>
          <p:nvPr/>
        </p:nvPicPr>
        <p:blipFill>
          <a:blip r:embed="rId3"/>
          <a:srcRect l="0" r="0" t="0" b="0"/>
          <a:stretch/>
        </p:blipFill>
        <p:spPr>
          <a:xfrm>
            <a:off x="1056640" y="4871721"/>
            <a:ext cx="304800" cy="304800"/>
          </a:xfrm>
          <a:prstGeom prst="rect">
            <a:avLst/>
          </a:prstGeom>
        </p:spPr>
      </p:pic>
      <p:sp>
        <p:nvSpPr>
          <p:cNvPr id="11" name="Text 5"/>
          <p:cNvSpPr/>
          <p:nvPr/>
        </p:nvSpPr>
        <p:spPr>
          <a:xfrm>
            <a:off x="1513840" y="4900296"/>
            <a:ext cx="6826091"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0F2A22"/>
                </a:solidFill>
                <a:latin typeface="Nunito" pitchFamily="34" charset="0"/>
                <a:ea typeface="Nunito" pitchFamily="34" charset="-122"/>
                <a:cs typeface="Nunito" pitchFamily="34" charset="-120"/>
              </a:rPr>
              <a:t>Số liệu minh họa thôi nha, không phải kết quả khảo sát thực tế.</a:t>
            </a:r>
            <a:endParaRPr lang="en-US" sz="1500" dirty="0"/>
          </a:p>
        </p:txBody>
      </p:sp>
      <p:sp>
        <p:nvSpPr>
          <p:cNvPr id="12" name="Text 6"/>
          <p:cNvSpPr/>
          <p:nvPr/>
        </p:nvSpPr>
        <p:spPr>
          <a:xfrm>
            <a:off x="495808" y="6238242"/>
            <a:ext cx="1088339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F4A41"/>
                </a:solidFill>
                <a:latin typeface="Nunito" pitchFamily="34" charset="0"/>
                <a:ea typeface="Nunito" pitchFamily="34" charset="-122"/>
                <a:cs typeface="Nunito" pitchFamily="34" charset="-120"/>
              </a:rPr>
              <a:t>Nhóm 6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BE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10363200" y="812800"/>
            <a:ext cx="1016000" cy="1016000"/>
          </a:xfrm>
          <a:prstGeom prst="rect">
            <a:avLst/>
          </a:prstGeom>
        </p:spPr>
      </p:pic>
      <p:pic>
        <p:nvPicPr>
          <p:cNvPr id="3" name="Image 1" descr="Verified">    </p:cNvPr>
          <p:cNvPicPr>
            <a:picLocks noChangeAspect="1"/>
          </p:cNvPicPr>
          <p:nvPr/>
        </p:nvPicPr>
        <p:blipFill>
          <a:blip r:embed="rId2"/>
          <a:srcRect l="0" r="0" t="0" b="0"/>
          <a:stretch/>
        </p:blipFill>
        <p:spPr>
          <a:xfrm>
            <a:off x="10591800" y="1041400"/>
            <a:ext cx="558800" cy="558800"/>
          </a:xfrm>
          <a:prstGeom prst="rect">
            <a:avLst/>
          </a:prstGeom>
        </p:spPr>
      </p:pic>
      <p:sp>
        <p:nvSpPr>
          <p:cNvPr id="4" name="Text 0"/>
          <p:cNvSpPr/>
          <p:nvPr/>
        </p:nvSpPr>
        <p:spPr>
          <a:xfrm rot="21480000">
            <a:off x="821253" y="822324"/>
            <a:ext cx="1028700" cy="336550"/>
          </a:xfrm>
          <a:custGeom>
            <a:avLst/>
            <a:gdLst/>
            <a:ahLst/>
            <a:cxnLst/>
            <a:rect l="l" t="t" r="r" b="b"/>
            <a:pathLst>
              <a:path w="1028700" h="336550">
                <a:moveTo>
                  <a:pt x="168275" y="0"/>
                </a:moveTo>
                <a:lnTo>
                  <a:pt x="860425" y="0"/>
                </a:lnTo>
                <a:arcTo hR="168275" wR="168275" stAng="16200000" swAng="5400000"/>
                <a:lnTo>
                  <a:pt x="1028700" y="168275"/>
                </a:lnTo>
                <a:arcTo hR="168275" wR="168275" stAng="0" swAng="5400000"/>
                <a:lnTo>
                  <a:pt x="168275" y="336550"/>
                </a:lnTo>
                <a:arcTo hR="168275" wR="168275" stAng="5400000" swAng="5400000"/>
                <a:lnTo>
                  <a:pt x="0" y="168275"/>
                </a:lnTo>
                <a:arcTo hR="168275" wR="168275" stAng="10800000" swAng="5400000"/>
                <a:close/>
              </a:path>
            </a:pathLst>
          </a:custGeom>
          <a:solidFill>
            <a:srgbClr val="C8F560"/>
          </a:solidFill>
          <a:ln w="19050">
            <a:solidFill>
              <a:srgbClr val="0F2A22"/>
            </a:solidFill>
            <a:prstDash val="solid"/>
          </a:ln>
        </p:spPr>
        <p:txBody>
          <a:bodyPr wrap="none" lIns="0" tIns="0" rIns="0" bIns="0" rtlCol="0" anchor="ctr">
            <a:normAutofit/>
          </a:bodyPr>
          <a:lstStyle/>
          <a:p>
            <a:pPr algn="ctr" indent="0" marL="0">
              <a:lnSpc>
                <a:spcPts val="1960"/>
              </a:lnSpc>
              <a:buNone/>
            </a:pPr>
            <a:r>
              <a:rPr lang="en-US" sz="1400" b="1" dirty="0">
                <a:solidFill>
                  <a:srgbClr val="0F2A22"/>
                </a:solidFill>
                <a:latin typeface="Nunito" pitchFamily="34" charset="0"/>
                <a:ea typeface="Nunito" pitchFamily="34" charset="-122"/>
                <a:cs typeface="Nunito" pitchFamily="34" charset="-120"/>
              </a:rPr>
              <a:t>Kết luận</a:t>
            </a:r>
            <a:endParaRPr lang="en-US" sz="1400" dirty="0"/>
          </a:p>
        </p:txBody>
      </p:sp>
      <p:sp>
        <p:nvSpPr>
          <p:cNvPr id="5" name="Text 1"/>
          <p:cNvSpPr/>
          <p:nvPr>
            <p:ph type="title"/>
          </p:nvPr>
        </p:nvSpPr>
        <p:spPr>
          <a:xfrm>
            <a:off x="812800" y="12700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F2A22"/>
                </a:solidFill>
                <a:latin typeface="Fredoka" pitchFamily="34" charset="0"/>
                <a:ea typeface="Fredoka" pitchFamily="34" charset="-122"/>
                <a:cs typeface="Fredoka" pitchFamily="34" charset="-120"/>
              </a:rPr>
              <a:t>Lưu ý trước khi chốt</a:t>
            </a:r>
            <a:endParaRPr lang="en-US" sz="3600" dirty="0"/>
          </a:p>
        </p:txBody>
      </p:sp>
      <p:sp>
        <p:nvSpPr>
          <p:cNvPr id="6" name="Shape 2"/>
          <p:cNvSpPr/>
          <p:nvPr/>
        </p:nvSpPr>
        <p:spPr>
          <a:xfrm>
            <a:off x="822325" y="2087246"/>
            <a:ext cx="10547350" cy="875030"/>
          </a:xfrm>
          <a:prstGeom prst="roundRect">
            <a:avLst>
              <a:gd name="adj" fmla="val 16328"/>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7" name="Text 3"/>
          <p:cNvSpPr/>
          <p:nvPr/>
        </p:nvSpPr>
        <p:spPr>
          <a:xfrm>
            <a:off x="1091565" y="2305689"/>
            <a:ext cx="438150" cy="438150"/>
          </a:xfrm>
          <a:custGeom>
            <a:avLst/>
            <a:gdLst/>
            <a:ahLst/>
            <a:cxnLst/>
            <a:rect l="l" t="t" r="r" b="b"/>
            <a:pathLst>
              <a:path w="438150" h="438150">
                <a:moveTo>
                  <a:pt x="219075" y="0"/>
                </a:moveTo>
                <a:lnTo>
                  <a:pt x="219075" y="0"/>
                </a:lnTo>
                <a:arcTo hR="219075" wR="219075" stAng="16200000" swAng="5400000"/>
                <a:lnTo>
                  <a:pt x="438150" y="219075"/>
                </a:lnTo>
                <a:arcTo hR="219075" wR="219075" stAng="0" swAng="5400000"/>
                <a:lnTo>
                  <a:pt x="219075" y="438150"/>
                </a:lnTo>
                <a:arcTo hR="219075" wR="219075" stAng="5400000" swAng="5400000"/>
                <a:lnTo>
                  <a:pt x="0" y="219075"/>
                </a:lnTo>
                <a:arcTo hR="219075" wR="219075" stAng="10800000" swAng="5400000"/>
                <a:close/>
              </a:path>
            </a:pathLst>
          </a:custGeom>
          <a:solidFill>
            <a:srgbClr val="C8F560"/>
          </a:solidFill>
          <a:ln w="19050">
            <a:solidFill>
              <a:srgbClr val="0F2A22"/>
            </a:solidFill>
            <a:prstDash val="solid"/>
          </a:ln>
        </p:spPr>
        <p:txBody>
          <a:bodyPr wrap="square" lIns="5715" tIns="5715" rIns="5715" bIns="5715" rtlCol="0" anchor="ctr">
            <a:normAutofit/>
          </a:bodyPr>
          <a:lstStyle/>
          <a:p>
            <a:pPr algn="ctr" indent="0" marL="0">
              <a:lnSpc>
                <a:spcPts val="2520"/>
              </a:lnSpc>
              <a:buNone/>
            </a:pPr>
            <a:r>
              <a:rPr lang="en-US" sz="1800" b="1" dirty="0">
                <a:solidFill>
                  <a:srgbClr val="0F2A22"/>
                </a:solidFill>
                <a:latin typeface="Fredoka" pitchFamily="34" charset="0"/>
                <a:ea typeface="Fredoka" pitchFamily="34" charset="-122"/>
                <a:cs typeface="Fredoka" pitchFamily="34" charset="-120"/>
              </a:rPr>
              <a:t>1</a:t>
            </a:r>
            <a:endParaRPr lang="en-US" sz="1800" dirty="0"/>
          </a:p>
        </p:txBody>
      </p:sp>
      <p:sp>
        <p:nvSpPr>
          <p:cNvPr id="8" name="Text 4"/>
          <p:cNvSpPr/>
          <p:nvPr/>
        </p:nvSpPr>
        <p:spPr>
          <a:xfrm>
            <a:off x="1742440" y="2379030"/>
            <a:ext cx="9648546" cy="316865"/>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0F2A22"/>
                </a:solidFill>
                <a:latin typeface="Nunito" pitchFamily="34" charset="0"/>
                <a:ea typeface="Nunito" pitchFamily="34" charset="-122"/>
                <a:cs typeface="Nunito" pitchFamily="34" charset="-120"/>
              </a:rPr>
              <a:t>Số liệu trên là minh họa, không phải khảo sát thực tế.</a:t>
            </a:r>
            <a:endParaRPr lang="en-US" sz="1700" dirty="0"/>
          </a:p>
        </p:txBody>
      </p:sp>
      <p:sp>
        <p:nvSpPr>
          <p:cNvPr id="9" name="Shape 5"/>
          <p:cNvSpPr/>
          <p:nvPr/>
        </p:nvSpPr>
        <p:spPr>
          <a:xfrm>
            <a:off x="822325" y="3184525"/>
            <a:ext cx="10547350" cy="875030"/>
          </a:xfrm>
          <a:prstGeom prst="roundRect">
            <a:avLst>
              <a:gd name="adj" fmla="val 16328"/>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10" name="Text 6"/>
          <p:cNvSpPr/>
          <p:nvPr/>
        </p:nvSpPr>
        <p:spPr>
          <a:xfrm>
            <a:off x="1091565" y="3402967"/>
            <a:ext cx="438150" cy="438150"/>
          </a:xfrm>
          <a:custGeom>
            <a:avLst/>
            <a:gdLst/>
            <a:ahLst/>
            <a:cxnLst/>
            <a:rect l="l" t="t" r="r" b="b"/>
            <a:pathLst>
              <a:path w="438150" h="438150">
                <a:moveTo>
                  <a:pt x="219075" y="0"/>
                </a:moveTo>
                <a:lnTo>
                  <a:pt x="219075" y="0"/>
                </a:lnTo>
                <a:arcTo hR="219075" wR="219075" stAng="16200000" swAng="5400000"/>
                <a:lnTo>
                  <a:pt x="438150" y="219075"/>
                </a:lnTo>
                <a:arcTo hR="219075" wR="219075" stAng="0" swAng="5400000"/>
                <a:lnTo>
                  <a:pt x="219075" y="438150"/>
                </a:lnTo>
                <a:arcTo hR="219075" wR="219075" stAng="5400000" swAng="5400000"/>
                <a:lnTo>
                  <a:pt x="0" y="219075"/>
                </a:lnTo>
                <a:arcTo hR="219075" wR="219075" stAng="10800000" swAng="5400000"/>
                <a:close/>
              </a:path>
            </a:pathLst>
          </a:custGeom>
          <a:solidFill>
            <a:srgbClr val="8ED1FF"/>
          </a:solidFill>
          <a:ln w="19050">
            <a:solidFill>
              <a:srgbClr val="0F2A22"/>
            </a:solidFill>
            <a:prstDash val="solid"/>
          </a:ln>
        </p:spPr>
        <p:txBody>
          <a:bodyPr wrap="square" lIns="5715" tIns="5715" rIns="5715" bIns="5715" rtlCol="0" anchor="ctr">
            <a:normAutofit/>
          </a:bodyPr>
          <a:lstStyle/>
          <a:p>
            <a:pPr algn="ctr" indent="0" marL="0">
              <a:lnSpc>
                <a:spcPts val="2520"/>
              </a:lnSpc>
              <a:buNone/>
            </a:pPr>
            <a:r>
              <a:rPr lang="en-US" sz="1800" b="1" dirty="0">
                <a:solidFill>
                  <a:srgbClr val="0F2A22"/>
                </a:solidFill>
                <a:latin typeface="Fredoka" pitchFamily="34" charset="0"/>
                <a:ea typeface="Fredoka" pitchFamily="34" charset="-122"/>
                <a:cs typeface="Fredoka" pitchFamily="34" charset="-120"/>
              </a:rPr>
              <a:t>2</a:t>
            </a:r>
            <a:endParaRPr lang="en-US" sz="1800" dirty="0"/>
          </a:p>
        </p:txBody>
      </p:sp>
      <p:sp>
        <p:nvSpPr>
          <p:cNvPr id="11" name="Text 7"/>
          <p:cNvSpPr/>
          <p:nvPr/>
        </p:nvSpPr>
        <p:spPr>
          <a:xfrm>
            <a:off x="1742440" y="3476309"/>
            <a:ext cx="9648546" cy="316865"/>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0F2A22"/>
                </a:solidFill>
                <a:latin typeface="Nunito" pitchFamily="34" charset="0"/>
                <a:ea typeface="Nunito" pitchFamily="34" charset="-122"/>
                <a:cs typeface="Nunito" pitchFamily="34" charset="-120"/>
              </a:rPr>
              <a:t>Nên khảo sát thật trong 2 đến 4 tuần, so sánh bằng biểu đồ cột hoặc đường.</a:t>
            </a:r>
            <a:endParaRPr lang="en-US" sz="1700" dirty="0"/>
          </a:p>
        </p:txBody>
      </p:sp>
      <p:sp>
        <p:nvSpPr>
          <p:cNvPr id="12" name="Shape 8"/>
          <p:cNvSpPr/>
          <p:nvPr/>
        </p:nvSpPr>
        <p:spPr>
          <a:xfrm>
            <a:off x="822325" y="4281804"/>
            <a:ext cx="10547350" cy="875030"/>
          </a:xfrm>
          <a:prstGeom prst="roundRect">
            <a:avLst>
              <a:gd name="adj" fmla="val 16328"/>
            </a:avLst>
          </a:prstGeom>
          <a:solidFill>
            <a:srgbClr val="FFFFFF"/>
          </a:solidFill>
          <a:ln w="19050">
            <a:solidFill>
              <a:srgbClr val="0F2A22"/>
            </a:solidFill>
            <a:prstDash val="solid"/>
          </a:ln>
          <a:effectLst>
            <a:outerShdw sx="100000" sy="100000" kx="0" ky="0" algn="bl" rotWithShape="0" blurRad="0" dist="71842" dir="2700000">
              <a:srgbClr val="0F2A22">
                <a:alpha val="100000"/>
              </a:srgbClr>
            </a:outerShdw>
          </a:effectLst>
        </p:spPr>
      </p:sp>
      <p:sp>
        <p:nvSpPr>
          <p:cNvPr id="13" name="Text 9"/>
          <p:cNvSpPr/>
          <p:nvPr/>
        </p:nvSpPr>
        <p:spPr>
          <a:xfrm>
            <a:off x="1091565" y="4500246"/>
            <a:ext cx="438150" cy="438150"/>
          </a:xfrm>
          <a:custGeom>
            <a:avLst/>
            <a:gdLst/>
            <a:ahLst/>
            <a:cxnLst/>
            <a:rect l="l" t="t" r="r" b="b"/>
            <a:pathLst>
              <a:path w="438150" h="438150">
                <a:moveTo>
                  <a:pt x="219075" y="0"/>
                </a:moveTo>
                <a:lnTo>
                  <a:pt x="219075" y="0"/>
                </a:lnTo>
                <a:arcTo hR="219075" wR="219075" stAng="16200000" swAng="5400000"/>
                <a:lnTo>
                  <a:pt x="438150" y="219075"/>
                </a:lnTo>
                <a:arcTo hR="219075" wR="219075" stAng="0" swAng="5400000"/>
                <a:lnTo>
                  <a:pt x="219075" y="438150"/>
                </a:lnTo>
                <a:arcTo hR="219075" wR="219075" stAng="5400000" swAng="5400000"/>
                <a:lnTo>
                  <a:pt x="0" y="219075"/>
                </a:lnTo>
                <a:arcTo hR="219075" wR="219075" stAng="10800000" swAng="5400000"/>
                <a:close/>
              </a:path>
            </a:pathLst>
          </a:custGeom>
          <a:solidFill>
            <a:srgbClr val="3DDC84"/>
          </a:solidFill>
          <a:ln w="19050">
            <a:solidFill>
              <a:srgbClr val="0F2A22"/>
            </a:solidFill>
            <a:prstDash val="solid"/>
          </a:ln>
        </p:spPr>
        <p:txBody>
          <a:bodyPr wrap="square" lIns="5715" tIns="5715" rIns="5715" bIns="5715" rtlCol="0" anchor="ctr">
            <a:normAutofit/>
          </a:bodyPr>
          <a:lstStyle/>
          <a:p>
            <a:pPr algn="ctr" indent="0" marL="0">
              <a:lnSpc>
                <a:spcPts val="2520"/>
              </a:lnSpc>
              <a:buNone/>
            </a:pPr>
            <a:r>
              <a:rPr lang="en-US" sz="1800" b="1" dirty="0">
                <a:solidFill>
                  <a:srgbClr val="0F2A22"/>
                </a:solidFill>
                <a:latin typeface="Fredoka" pitchFamily="34" charset="0"/>
                <a:ea typeface="Fredoka" pitchFamily="34" charset="-122"/>
                <a:cs typeface="Fredoka" pitchFamily="34" charset="-120"/>
              </a:rPr>
              <a:t>3</a:t>
            </a:r>
            <a:endParaRPr lang="en-US" sz="1800" dirty="0"/>
          </a:p>
        </p:txBody>
      </p:sp>
      <p:sp>
        <p:nvSpPr>
          <p:cNvPr id="14" name="Text 10"/>
          <p:cNvSpPr/>
          <p:nvPr/>
        </p:nvSpPr>
        <p:spPr>
          <a:xfrm>
            <a:off x="1742440" y="4573588"/>
            <a:ext cx="9648546" cy="316865"/>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0F2A22"/>
                </a:solidFill>
                <a:latin typeface="Nunito" pitchFamily="34" charset="0"/>
                <a:ea typeface="Nunito" pitchFamily="34" charset="-122"/>
                <a:cs typeface="Nunito" pitchFamily="34" charset="-120"/>
              </a:rPr>
              <a:t>Không khẳng định app cải thiện sức khỏe chỉ từ số liệu minh họa.</a:t>
            </a:r>
            <a:endParaRPr lang="en-US" sz="1700" dirty="0"/>
          </a:p>
        </p:txBody>
      </p:sp>
      <p:sp>
        <p:nvSpPr>
          <p:cNvPr id="15" name="Text 11"/>
          <p:cNvSpPr/>
          <p:nvPr/>
        </p:nvSpPr>
        <p:spPr>
          <a:xfrm>
            <a:off x="495808" y="6238242"/>
            <a:ext cx="1088339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F4A41"/>
                </a:solidFill>
                <a:latin typeface="Nunito" pitchFamily="34" charset="0"/>
                <a:ea typeface="Nunito" pitchFamily="34" charset="-122"/>
                <a:cs typeface="Nunito" pitchFamily="34" charset="-120"/>
              </a:rPr>
              <a:t>Nhóm 6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22"/>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001000" y="1079500"/>
            <a:ext cx="2794000" cy="2794000"/>
          </a:xfrm>
          <a:prstGeom prst="rect">
            <a:avLst/>
          </a:prstGeom>
        </p:spPr>
      </p:pic>
      <p:pic>
        <p:nvPicPr>
          <p:cNvPr id="3" name="Image 1" descr="ellipse">    </p:cNvPr>
          <p:cNvPicPr>
            <a:picLocks noChangeAspect="1"/>
          </p:cNvPicPr>
          <p:nvPr/>
        </p:nvPicPr>
        <p:blipFill>
          <a:blip r:embed="rId2"/>
          <a:srcRect l="0" r="0" t="0" b="0"/>
          <a:stretch/>
        </p:blipFill>
        <p:spPr>
          <a:xfrm>
            <a:off x="9525000" y="3619500"/>
            <a:ext cx="1778000" cy="1778000"/>
          </a:xfrm>
          <a:prstGeom prst="rect">
            <a:avLst/>
          </a:prstGeom>
        </p:spPr>
      </p:pic>
      <p:pic>
        <p:nvPicPr>
          <p:cNvPr id="4" name="Image 2" descr="ellipse">    </p:cNvPr>
          <p:cNvPicPr>
            <a:picLocks noChangeAspect="1"/>
          </p:cNvPicPr>
          <p:nvPr/>
        </p:nvPicPr>
        <p:blipFill>
          <a:blip r:embed="rId3"/>
          <a:srcRect l="0" r="0" t="0" b="0"/>
          <a:stretch/>
        </p:blipFill>
        <p:spPr>
          <a:xfrm>
            <a:off x="7556500" y="4127500"/>
            <a:ext cx="1270000" cy="1270000"/>
          </a:xfrm>
          <a:prstGeom prst="rect">
            <a:avLst/>
          </a:prstGeom>
        </p:spPr>
      </p:pic>
      <p:pic>
        <p:nvPicPr>
          <p:cNvPr id="5" name="Image 3" descr="ThumbsUp">    </p:cNvPr>
          <p:cNvPicPr>
            <a:picLocks noChangeAspect="1"/>
          </p:cNvPicPr>
          <p:nvPr/>
        </p:nvPicPr>
        <p:blipFill>
          <a:blip r:embed="rId4"/>
          <a:srcRect l="0" r="0" t="0" b="0"/>
          <a:stretch/>
        </p:blipFill>
        <p:spPr>
          <a:xfrm>
            <a:off x="8763000" y="1841500"/>
            <a:ext cx="1270000" cy="1270000"/>
          </a:xfrm>
          <a:prstGeom prst="rect">
            <a:avLst/>
          </a:prstGeom>
        </p:spPr>
      </p:pic>
      <p:pic>
        <p:nvPicPr>
          <p:cNvPr id="6" name="Image 4" descr="Activity">    </p:cNvPr>
          <p:cNvPicPr>
            <a:picLocks noChangeAspect="1"/>
          </p:cNvPicPr>
          <p:nvPr/>
        </p:nvPicPr>
        <p:blipFill>
          <a:blip r:embed="rId5"/>
          <a:srcRect l="0" r="0" t="0" b="0"/>
          <a:stretch/>
        </p:blipFill>
        <p:spPr>
          <a:xfrm>
            <a:off x="10033000" y="4127500"/>
            <a:ext cx="762000" cy="762000"/>
          </a:xfrm>
          <a:prstGeom prst="rect">
            <a:avLst/>
          </a:prstGeom>
        </p:spPr>
      </p:pic>
      <p:pic>
        <p:nvPicPr>
          <p:cNvPr id="7" name="Image 5" descr="Check">    </p:cNvPr>
          <p:cNvPicPr>
            <a:picLocks noChangeAspect="1"/>
          </p:cNvPicPr>
          <p:nvPr/>
        </p:nvPicPr>
        <p:blipFill>
          <a:blip r:embed="rId6"/>
          <a:srcRect l="0" r="0" t="0" b="0"/>
          <a:stretch/>
        </p:blipFill>
        <p:spPr>
          <a:xfrm>
            <a:off x="7874000" y="4445000"/>
            <a:ext cx="635000" cy="635000"/>
          </a:xfrm>
          <a:prstGeom prst="rect">
            <a:avLst/>
          </a:prstGeom>
        </p:spPr>
      </p:pic>
      <p:sp>
        <p:nvSpPr>
          <p:cNvPr id="8" name="Text 0"/>
          <p:cNvSpPr/>
          <p:nvPr/>
        </p:nvSpPr>
        <p:spPr>
          <a:xfrm rot="21420000">
            <a:off x="811848" y="2298064"/>
            <a:ext cx="1352550" cy="387350"/>
          </a:xfrm>
          <a:custGeom>
            <a:avLst/>
            <a:gdLst/>
            <a:ahLst/>
            <a:cxnLst/>
            <a:rect l="l" t="t" r="r" b="b"/>
            <a:pathLst>
              <a:path w="1352550" h="387350">
                <a:moveTo>
                  <a:pt x="193675" y="0"/>
                </a:moveTo>
                <a:lnTo>
                  <a:pt x="1158875" y="0"/>
                </a:lnTo>
                <a:arcTo hR="193675" wR="193675" stAng="16200000" swAng="5400000"/>
                <a:lnTo>
                  <a:pt x="1352550" y="193675"/>
                </a:lnTo>
                <a:arcTo hR="193675" wR="193675" stAng="0" swAng="5400000"/>
                <a:lnTo>
                  <a:pt x="193675" y="387350"/>
                </a:lnTo>
                <a:arcTo hR="193675" wR="193675" stAng="5400000" swAng="5400000"/>
                <a:lnTo>
                  <a:pt x="0" y="193675"/>
                </a:lnTo>
                <a:arcTo hR="193675" wR="193675" stAng="10800000" swAng="5400000"/>
                <a:close/>
              </a:path>
            </a:pathLst>
          </a:custGeom>
          <a:solidFill>
            <a:srgbClr val="C8F560"/>
          </a:solidFill>
          <a:ln/>
        </p:spPr>
        <p:txBody>
          <a:bodyPr wrap="none" lIns="0" tIns="0" rIns="0" bIns="0" rtlCol="0" anchor="ctr">
            <a:normAutofit/>
          </a:bodyPr>
          <a:lstStyle/>
          <a:p>
            <a:pPr algn="ctr" indent="0" marL="0">
              <a:lnSpc>
                <a:spcPts val="2240"/>
              </a:lnSpc>
              <a:buNone/>
            </a:pPr>
            <a:r>
              <a:rPr lang="en-US" sz="1600" b="1" spc="150" kern="0" dirty="0">
                <a:solidFill>
                  <a:srgbClr val="0F2A22"/>
                </a:solidFill>
                <a:latin typeface="Nunito" pitchFamily="34" charset="0"/>
                <a:ea typeface="Nunito" pitchFamily="34" charset="-122"/>
                <a:cs typeface="Nunito" pitchFamily="34" charset="-120"/>
              </a:rPr>
              <a:t>NHÓM 6</a:t>
            </a:r>
            <a:endParaRPr lang="en-US" sz="1600" dirty="0"/>
          </a:p>
        </p:txBody>
      </p:sp>
      <p:sp>
        <p:nvSpPr>
          <p:cNvPr id="9" name="Text 1"/>
          <p:cNvSpPr/>
          <p:nvPr>
            <p:ph type="title"/>
          </p:nvPr>
        </p:nvSpPr>
        <p:spPr>
          <a:xfrm>
            <a:off x="812800" y="2887979"/>
            <a:ext cx="6278880" cy="69596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3FBE8"/>
                </a:solidFill>
                <a:latin typeface="Fredoka" pitchFamily="34" charset="0"/>
                <a:ea typeface="Fredoka" pitchFamily="34" charset="-122"/>
                <a:cs typeface="Fredoka" pitchFamily="34" charset="-120"/>
              </a:rPr>
              <a:t>Cảm ơn đã </a:t>
            </a:r>
            <a:r>
              <a:rPr lang="en-US" sz="4800" b="1" i="0" dirty="0">
                <a:solidFill>
                  <a:srgbClr val="C8F560"/>
                </a:solidFill>
                <a:latin typeface="Fredoka" pitchFamily="34" charset="0"/>
                <a:ea typeface="Fredoka" pitchFamily="34" charset="-122"/>
                <a:cs typeface="Fredoka" pitchFamily="34" charset="-120"/>
              </a:rPr>
              <a:t>nghe nha</a:t>
            </a:r>
            <a:endParaRPr lang="en-US" sz="4800" dirty="0"/>
          </a:p>
        </p:txBody>
      </p:sp>
      <p:sp>
        <p:nvSpPr>
          <p:cNvPr id="10" name="Text 2"/>
          <p:cNvSpPr/>
          <p:nvPr/>
        </p:nvSpPr>
        <p:spPr>
          <a:xfrm>
            <a:off x="812800" y="3761742"/>
            <a:ext cx="5886450" cy="3556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8ED1FF"/>
                </a:solidFill>
                <a:latin typeface="Nunito" pitchFamily="34" charset="0"/>
                <a:ea typeface="Nunito" pitchFamily="34" charset="-122"/>
                <a:cs typeface="Nunito" pitchFamily="34" charset="-120"/>
              </a:rPr>
              <a:t>Có câu hỏi thì cứ hỏi nhé!</a:t>
            </a:r>
            <a:endParaRPr lang="en-US" sz="2000" dirty="0"/>
          </a:p>
        </p:txBody>
      </p:sp>
      <p:sp>
        <p:nvSpPr>
          <p:cNvPr id="11" name="Text 3"/>
          <p:cNvSpPr/>
          <p:nvPr/>
        </p:nvSpPr>
        <p:spPr>
          <a:xfrm>
            <a:off x="812800" y="4295142"/>
            <a:ext cx="5886450"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FE0D0"/>
                </a:solidFill>
                <a:latin typeface="Nunito" pitchFamily="34" charset="0"/>
                <a:ea typeface="Nunito" pitchFamily="34" charset="-122"/>
                <a:cs typeface="Nunito" pitchFamily="34" charset="-120"/>
              </a:rPr>
              <a:t>Ứng dụng quản lý lối sống lành mạnh</a:t>
            </a:r>
            <a:endParaRPr lang="en-US" sz="1600" dirty="0"/>
          </a:p>
        </p:txBody>
      </p:sp>
    </p:spTree>
  </p:cSld>
  <p:clrMapOvr>
    <a:masterClrMapping/>
  </p:clrMapOvr>
</p:sld>
</file>

<file path=ppt/theme/theme1.xml><?xml version="1.0" encoding="utf-8"?>
<a:theme xmlns:a="http://schemas.openxmlformats.org/drawingml/2006/main" name="Ứng dụng quản lý lối sống lành mạnh - Nhóm 6">
  <a:themeElements>
    <a:clrScheme name="Ứng dụng quản lý lối sống lành mạnh - Nhóm 6">
      <a:dk1>
        <a:srgbClr val="0F2A22"/>
      </a:dk1>
      <a:lt1>
        <a:srgbClr val="F3FBE8"/>
      </a:lt1>
      <a:dk2>
        <a:srgbClr val="485E54"/>
      </a:dk2>
      <a:lt2>
        <a:srgbClr val="DCE6D4"/>
      </a:lt2>
      <a:accent1>
        <a:srgbClr val="C8F560"/>
      </a:accent1>
      <a:accent2>
        <a:srgbClr val="8ED1FF"/>
      </a:accent2>
      <a:accent3>
        <a:srgbClr val="3DDC84"/>
      </a:accent3>
      <a:accent4>
        <a:srgbClr val="FFE9A8"/>
      </a:accent4>
      <a:accent5>
        <a:srgbClr val="2F4A41"/>
      </a:accent5>
      <a:accent6>
        <a:srgbClr val="BFE0D0"/>
      </a:accent6>
      <a:hlink>
        <a:srgbClr val="0563C1"/>
      </a:hlink>
      <a:folHlink>
        <a:srgbClr val="954F72"/>
      </a:folHlink>
    </a:clrScheme>
    <a:fontScheme name="Ứng dụng quản lý lối sống lành mạnh - Nhóm 6">
      <a:majorFont>
        <a:latin typeface="Fredok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Ứng dụng quản lý lối sống lành mạnh - Nhóm 6</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Nunito
Copyright 2014 The Nunito Project Authors (https://github.com/googlefonts/nunito)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Fredoka
Copyright 2016 The Fredoka Project Authors (https://github.com/hafontia/Fredoka-One)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2026-10-25T16:07:41Z</dcterms:created>
  <dcterms:modified xsi:type="dcterms:W3CDTF">2026-10-25T16:07:41Z</dcterms:modified>
</cp:coreProperties>
</file>